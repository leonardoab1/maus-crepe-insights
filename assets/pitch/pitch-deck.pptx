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project as a practical data-to-insight toolkit: run records, camera checks and recipe settings become a structured view for analysis. Source: repository documentation and private Maus export. The project code is public; the run data remains private.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export contains 828 run records; the flat table has 177 columns; 138 runs have extracted vision measurements; and the workflow exposes four camera-check stages: spread, fold1, fold2 and push-off. Sources: private data/runs.parquet and data/vision.parquet, with the public schemas and commands in documentation/data/pipeline.md and documentation/status.md. The remaining callouts describe implemented data, measurement and review tools.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the audience to explore the public project and its pipeline, data schemas, vision measurements, model artifacts and review tools. Teams can use their own authorized run records to compare batches and shape follow-up experiments. The source code is public; private Maus run data is not included.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hyperlink" Target="https://github.com/leonardoAB1/maus-crepe-insight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6EC"/>
        </a:solidFill>
        <a:effectLst/>
      </p:bgPr>
    </p:bg>
    <p:spTree>
      <p:nvGrpSpPr>
        <p:cNvPr id="1" name=""/>
        <p:cNvGrpSpPr/>
        <p:nvPr/>
      </p:nvGrpSpPr>
      <p:grpSpPr/>
      <p:sp>
        <p:nvSpPr>
          <p:cNvPr id="2" name="TextBox 1"/>
          <p:cNvSpPr txBox="1"/>
          <p:nvPr/>
        </p:nvSpPr>
        <p:spPr>
          <a:xfrm>
            <a:off x="822960" y="1417320"/>
            <a:ext cx="10515600" cy="1188720"/>
          </a:xfrm>
          <a:prstGeom prst="rect">
            <a:avLst/>
          </a:prstGeom>
          <a:noFill/>
        </p:spPr>
        <p:txBody>
          <a:bodyPr wrap="square">
            <a:spAutoFit/>
          </a:bodyPr>
          <a:lstStyle/>
          <a:p>
            <a:pPr algn="ctr"/>
            <a:r>
              <a:rPr sz="4800" b="1">
                <a:solidFill>
                  <a:srgbClr val="4A3226"/>
                </a:solidFill>
                <a:latin typeface="DejaVu Sans"/>
              </a:rPr>
              <a:t>Maus Crepe Insights</a:t>
            </a:r>
          </a:p>
        </p:txBody>
      </p:sp>
      <p:sp>
        <p:nvSpPr>
          <p:cNvPr id="3" name="TextBox 2"/>
          <p:cNvSpPr txBox="1"/>
          <p:nvPr/>
        </p:nvSpPr>
        <p:spPr>
          <a:xfrm>
            <a:off x="1188720" y="2880360"/>
            <a:ext cx="9784080" cy="1097280"/>
          </a:xfrm>
          <a:prstGeom prst="rect">
            <a:avLst/>
          </a:prstGeom>
          <a:noFill/>
        </p:spPr>
        <p:txBody>
          <a:bodyPr wrap="square">
            <a:spAutoFit/>
          </a:bodyPr>
          <a:lstStyle/>
          <a:p>
            <a:pPr algn="ctr"/>
            <a:r>
              <a:rPr sz="2200" b="0">
                <a:solidFill>
                  <a:srgbClr val="F28B9B"/>
                </a:solidFill>
                <a:latin typeface="DejaVu Sans"/>
              </a:rPr>
              <a:t>Turn robot run records and camera checks into measurable crêpe-quality signals.</a:t>
            </a:r>
          </a:p>
        </p:txBody>
      </p:sp>
      <p:sp>
        <p:nvSpPr>
          <p:cNvPr id="4" name="TextBox 3"/>
          <p:cNvSpPr txBox="1"/>
          <p:nvPr/>
        </p:nvSpPr>
        <p:spPr>
          <a:xfrm>
            <a:off x="1188720" y="4160520"/>
            <a:ext cx="9784080" cy="548640"/>
          </a:xfrm>
          <a:prstGeom prst="rect">
            <a:avLst/>
          </a:prstGeom>
          <a:noFill/>
        </p:spPr>
        <p:txBody>
          <a:bodyPr wrap="square">
            <a:spAutoFit/>
          </a:bodyPr>
          <a:lstStyle/>
          <a:p>
            <a:pPr algn="ctr"/>
            <a:r>
              <a:rPr sz="1400" b="0">
                <a:solidFill>
                  <a:srgbClr val="9C7A63"/>
                </a:solidFill>
                <a:latin typeface="DejaVu Sans"/>
              </a:rPr>
              <a:t>A data-to-insight toolkit for the Maus Robotics challenge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6EC"/>
        </a:solidFill>
        <a:effectLst/>
      </p:bgPr>
    </p:bg>
    <p:spTree>
      <p:nvGrpSpPr>
        <p:cNvPr id="1" name=""/>
        <p:cNvGrpSpPr/>
        <p:nvPr/>
      </p:nvGrpSpPr>
      <p:grpSpPr/>
      <p:sp>
        <p:nvSpPr>
          <p:cNvPr id="2" name="TextBox 1"/>
          <p:cNvSpPr txBox="1"/>
          <p:nvPr/>
        </p:nvSpPr>
        <p:spPr>
          <a:xfrm>
            <a:off x="548640" y="292608"/>
            <a:ext cx="11064240" cy="822960"/>
          </a:xfrm>
          <a:prstGeom prst="rect">
            <a:avLst/>
          </a:prstGeom>
          <a:noFill/>
        </p:spPr>
        <p:txBody>
          <a:bodyPr wrap="square">
            <a:spAutoFit/>
          </a:bodyPr>
          <a:lstStyle/>
          <a:p>
            <a:pPr algn="l"/>
            <a:r>
              <a:rPr sz="3000" b="1">
                <a:solidFill>
                  <a:srgbClr val="4A3226"/>
                </a:solidFill>
                <a:latin typeface="DejaVu Sans"/>
              </a:rPr>
              <a:t>One run. A richer view.</a:t>
            </a:r>
          </a:p>
        </p:txBody>
      </p:sp>
      <p:sp>
        <p:nvSpPr>
          <p:cNvPr id="3" name="Rounded Rectangle 2"/>
          <p:cNvSpPr/>
          <p:nvPr/>
        </p:nvSpPr>
        <p:spPr>
          <a:xfrm>
            <a:off x="365760" y="1325880"/>
            <a:ext cx="2658618" cy="2286000"/>
          </a:xfrm>
          <a:prstGeom prst="roundRect">
            <a:avLst>
              <a:gd name="adj" fmla="val 12000"/>
            </a:avLst>
          </a:prstGeom>
          <a:solidFill>
            <a:srgbClr val="E8A87C"/>
          </a:solidFill>
          <a:ln w="15875">
            <a:solidFill>
              <a:srgbClr val="E8A87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19456" bIns="146304"/>
          <a:lstStyle/>
          <a:p>
            <a:pPr algn="l"/>
            <a:r>
              <a:rPr sz="4000" b="1">
                <a:solidFill>
                  <a:srgbClr val="4A3226"/>
                </a:solidFill>
                <a:latin typeface="DejaVu Sans"/>
              </a:rPr>
              <a:t>828</a:t>
            </a:r>
          </a:p>
          <a:p>
            <a:pPr algn="l">
              <a:spcBef>
                <a:spcPts val="400"/>
              </a:spcBef>
            </a:pPr>
            <a:r>
              <a:rPr sz="1500" b="1">
                <a:solidFill>
                  <a:srgbClr val="4A3226"/>
                </a:solidFill>
                <a:latin typeface="DejaVu Sans"/>
              </a:rPr>
              <a:t>run records</a:t>
            </a:r>
          </a:p>
          <a:p>
            <a:pPr algn="l">
              <a:spcBef>
                <a:spcPts val="600"/>
              </a:spcBef>
            </a:pPr>
            <a:r>
              <a:rPr sz="1100" b="0">
                <a:solidFill>
                  <a:srgbClr val="4A3226"/>
                </a:solidFill>
                <a:latin typeface="DejaVu Sans"/>
              </a:rPr>
              <a:t>JSON export + ROS 2 MCAP</a:t>
            </a:r>
          </a:p>
        </p:txBody>
      </p:sp>
      <p:sp>
        <p:nvSpPr>
          <p:cNvPr id="4" name="Rounded Rectangle 3"/>
          <p:cNvSpPr/>
          <p:nvPr/>
        </p:nvSpPr>
        <p:spPr>
          <a:xfrm>
            <a:off x="3298698" y="1325880"/>
            <a:ext cx="2658618" cy="2286000"/>
          </a:xfrm>
          <a:prstGeom prst="roundRect">
            <a:avLst>
              <a:gd name="adj" fmla="val 12000"/>
            </a:avLst>
          </a:prstGeom>
          <a:solidFill>
            <a:srgbClr val="F28B9B"/>
          </a:solidFill>
          <a:ln w="15875">
            <a:solidFill>
              <a:srgbClr val="E8A87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19456" bIns="146304"/>
          <a:lstStyle/>
          <a:p>
            <a:pPr algn="l"/>
            <a:r>
              <a:rPr sz="4000" b="1">
                <a:solidFill>
                  <a:srgbClr val="4A3226"/>
                </a:solidFill>
                <a:latin typeface="DejaVu Sans"/>
              </a:rPr>
              <a:t>177</a:t>
            </a:r>
          </a:p>
          <a:p>
            <a:pPr algn="l">
              <a:spcBef>
                <a:spcPts val="400"/>
              </a:spcBef>
            </a:pPr>
            <a:r>
              <a:rPr sz="1500" b="1">
                <a:solidFill>
                  <a:srgbClr val="4A3226"/>
                </a:solidFill>
                <a:latin typeface="DejaVu Sans"/>
              </a:rPr>
              <a:t>fields per run</a:t>
            </a:r>
          </a:p>
          <a:p>
            <a:pPr algn="l">
              <a:spcBef>
                <a:spcPts val="600"/>
              </a:spcBef>
            </a:pPr>
            <a:r>
              <a:rPr sz="1100" b="0">
                <a:solidFill>
                  <a:srgbClr val="4A3226"/>
                </a:solidFill>
                <a:latin typeface="DejaVu Sans"/>
              </a:rPr>
              <a:t>one analysis table</a:t>
            </a:r>
          </a:p>
        </p:txBody>
      </p:sp>
      <p:sp>
        <p:nvSpPr>
          <p:cNvPr id="5" name="Rounded Rectangle 4"/>
          <p:cNvSpPr/>
          <p:nvPr/>
        </p:nvSpPr>
        <p:spPr>
          <a:xfrm>
            <a:off x="6231636" y="1325880"/>
            <a:ext cx="2658618" cy="2286000"/>
          </a:xfrm>
          <a:prstGeom prst="roundRect">
            <a:avLst>
              <a:gd name="adj" fmla="val 12000"/>
            </a:avLst>
          </a:prstGeom>
          <a:solidFill>
            <a:srgbClr val="E8A87C"/>
          </a:solidFill>
          <a:ln w="15875">
            <a:solidFill>
              <a:srgbClr val="E8A87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19456" bIns="146304"/>
          <a:lstStyle/>
          <a:p>
            <a:pPr algn="l"/>
            <a:r>
              <a:rPr sz="4000" b="1">
                <a:solidFill>
                  <a:srgbClr val="4A3226"/>
                </a:solidFill>
                <a:latin typeface="DejaVu Sans"/>
              </a:rPr>
              <a:t>138</a:t>
            </a:r>
          </a:p>
          <a:p>
            <a:pPr algn="l">
              <a:spcBef>
                <a:spcPts val="400"/>
              </a:spcBef>
            </a:pPr>
            <a:r>
              <a:rPr sz="1500" b="1">
                <a:solidFill>
                  <a:srgbClr val="4A3226"/>
                </a:solidFill>
                <a:latin typeface="DejaVu Sans"/>
              </a:rPr>
              <a:t>runs with vision metrics</a:t>
            </a:r>
          </a:p>
          <a:p>
            <a:pPr algn="l">
              <a:spcBef>
                <a:spcPts val="600"/>
              </a:spcBef>
            </a:pPr>
            <a:r>
              <a:rPr sz="1100" b="0">
                <a:solidFill>
                  <a:srgbClr val="4A3226"/>
                </a:solidFill>
                <a:latin typeface="DejaVu Sans"/>
              </a:rPr>
              <a:t>check-overlay measurements</a:t>
            </a:r>
          </a:p>
        </p:txBody>
      </p:sp>
      <p:sp>
        <p:nvSpPr>
          <p:cNvPr id="6" name="Rounded Rectangle 5"/>
          <p:cNvSpPr/>
          <p:nvPr/>
        </p:nvSpPr>
        <p:spPr>
          <a:xfrm>
            <a:off x="9164574" y="1325880"/>
            <a:ext cx="2658618" cy="2286000"/>
          </a:xfrm>
          <a:prstGeom prst="roundRect">
            <a:avLst>
              <a:gd name="adj" fmla="val 12000"/>
            </a:avLst>
          </a:prstGeom>
          <a:solidFill>
            <a:srgbClr val="F28B9B"/>
          </a:solidFill>
          <a:ln w="15875">
            <a:solidFill>
              <a:srgbClr val="E8A87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19456" bIns="146304"/>
          <a:lstStyle/>
          <a:p>
            <a:pPr algn="l"/>
            <a:r>
              <a:rPr sz="4000" b="1">
                <a:solidFill>
                  <a:srgbClr val="4A3226"/>
                </a:solidFill>
                <a:latin typeface="DejaVu Sans"/>
              </a:rPr>
              <a:t>4</a:t>
            </a:r>
          </a:p>
          <a:p>
            <a:pPr algn="l">
              <a:spcBef>
                <a:spcPts val="400"/>
              </a:spcBef>
            </a:pPr>
            <a:r>
              <a:rPr sz="1500" b="1">
                <a:solidFill>
                  <a:srgbClr val="4A3226"/>
                </a:solidFill>
                <a:latin typeface="DejaVu Sans"/>
              </a:rPr>
              <a:t>camera checks</a:t>
            </a:r>
          </a:p>
          <a:p>
            <a:pPr algn="l">
              <a:spcBef>
                <a:spcPts val="600"/>
              </a:spcBef>
            </a:pPr>
            <a:r>
              <a:rPr sz="1100" b="0">
                <a:solidFill>
                  <a:srgbClr val="4A3226"/>
                </a:solidFill>
                <a:latin typeface="DejaVu Sans"/>
              </a:rPr>
              <a:t>spread / fold1 / fold2 / push-off</a:t>
            </a:r>
          </a:p>
        </p:txBody>
      </p:sp>
      <p:sp>
        <p:nvSpPr>
          <p:cNvPr id="7" name="TextBox 6"/>
          <p:cNvSpPr txBox="1"/>
          <p:nvPr/>
        </p:nvSpPr>
        <p:spPr>
          <a:xfrm>
            <a:off x="640080" y="3977640"/>
            <a:ext cx="10972800" cy="2103120"/>
          </a:xfrm>
          <a:prstGeom prst="rect">
            <a:avLst/>
          </a:prstGeom>
          <a:noFill/>
        </p:spPr>
        <p:txBody>
          <a:bodyPr wrap="square">
            <a:spAutoFit/>
          </a:bodyPr>
          <a:lstStyle/>
          <a:p>
            <a:pPr>
              <a:lnSpc>
                <a:spcPct val="100000"/>
              </a:lnSpc>
              <a:spcAft>
                <a:spcPts val="900"/>
              </a:spcAft>
            </a:pPr>
            <a:r>
              <a:rPr sz="1300" b="0">
                <a:solidFill>
                  <a:srgbClr val="4A3226"/>
                </a:solidFill>
                <a:latin typeface="DejaVu Sans"/>
              </a:rPr>
              <a:t>- Join robot runs, recipe settings and check images in one analysis workflow.</a:t>
            </a:r>
          </a:p>
          <a:p>
            <a:pPr>
              <a:lnSpc>
                <a:spcPct val="100000"/>
              </a:lnSpc>
              <a:spcAft>
                <a:spcPts val="900"/>
              </a:spcAft>
            </a:pPr>
            <a:r>
              <a:rPr sz="1300" b="0">
                <a:solidFill>
                  <a:srgbClr val="4A3226"/>
                </a:solidFill>
                <a:latin typeface="DejaVu Sans"/>
              </a:rPr>
              <a:t>- Measure diameter, centre offset, holes and fold overlap from the robot's check overlays.</a:t>
            </a:r>
          </a:p>
          <a:p>
            <a:pPr>
              <a:lnSpc>
                <a:spcPct val="100000"/>
              </a:lnSpc>
              <a:spcAft>
                <a:spcPts val="900"/>
              </a:spcAft>
            </a:pPr>
            <a:r>
              <a:rPr sz="1300" b="0">
                <a:solidFill>
                  <a:srgbClr val="4A3226"/>
                </a:solidFill>
                <a:latin typeface="DejaVu Sans"/>
              </a:rPr>
              <a:t>- Review video alongside frame records, then explore model artifacts and follow-up experiments.</a:t>
            </a:r>
          </a:p>
        </p:txBody>
      </p:sp>
      <p:sp>
        <p:nvSpPr>
          <p:cNvPr id="8" name="TextBox 7"/>
          <p:cNvSpPr txBox="1"/>
          <p:nvPr/>
        </p:nvSpPr>
        <p:spPr>
          <a:xfrm>
            <a:off x="548640" y="6327648"/>
            <a:ext cx="9601200" cy="365760"/>
          </a:xfrm>
          <a:prstGeom prst="rect">
            <a:avLst/>
          </a:prstGeom>
          <a:noFill/>
        </p:spPr>
        <p:txBody>
          <a:bodyPr wrap="square">
            <a:spAutoFit/>
          </a:bodyPr>
          <a:lstStyle/>
          <a:p>
            <a:r>
              <a:rPr sz="1000" b="0">
                <a:solidFill>
                  <a:srgbClr val="9C7A63"/>
                </a:solidFill>
                <a:latin typeface="DejaVu Sans"/>
              </a:rPr>
              <a:t>Sources: run table + vision metrics</a:t>
            </a:r>
          </a:p>
        </p:txBody>
      </p:sp>
      <p:sp>
        <p:nvSpPr>
          <p:cNvPr id="9" name="TextBox 8"/>
          <p:cNvSpPr txBox="1"/>
          <p:nvPr/>
        </p:nvSpPr>
        <p:spPr>
          <a:xfrm>
            <a:off x="11247120" y="6327648"/>
            <a:ext cx="548640" cy="365760"/>
          </a:xfrm>
          <a:prstGeom prst="rect">
            <a:avLst/>
          </a:prstGeom>
          <a:noFill/>
        </p:spPr>
        <p:txBody>
          <a:bodyPr wrap="square">
            <a:spAutoFit/>
          </a:bodyPr>
          <a:lstStyle/>
          <a:p>
            <a:pPr algn="r"/>
            <a:r>
              <a:rPr sz="1000" b="0">
                <a:solidFill>
                  <a:srgbClr val="9C7A63"/>
                </a:solidFill>
                <a:latin typeface="DejaVu Sa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6EC"/>
        </a:solidFill>
        <a:effectLst/>
      </p:bgPr>
    </p:bg>
    <p:spTree>
      <p:nvGrpSpPr>
        <p:cNvPr id="1" name=""/>
        <p:cNvGrpSpPr/>
        <p:nvPr/>
      </p:nvGrpSpPr>
      <p:grpSpPr/>
      <p:sp>
        <p:nvSpPr>
          <p:cNvPr id="2" name="TextBox 1"/>
          <p:cNvSpPr txBox="1"/>
          <p:nvPr/>
        </p:nvSpPr>
        <p:spPr>
          <a:xfrm>
            <a:off x="548640" y="292608"/>
            <a:ext cx="11064240" cy="822960"/>
          </a:xfrm>
          <a:prstGeom prst="rect">
            <a:avLst/>
          </a:prstGeom>
          <a:noFill/>
        </p:spPr>
        <p:txBody>
          <a:bodyPr wrap="square">
            <a:spAutoFit/>
          </a:bodyPr>
          <a:lstStyle/>
          <a:p>
            <a:pPr algn="l"/>
            <a:r>
              <a:rPr sz="3000" b="1">
                <a:solidFill>
                  <a:srgbClr val="4A3226"/>
                </a:solidFill>
                <a:latin typeface="DejaVu Sans"/>
              </a:rPr>
              <a:t>Make the next run more informative</a:t>
            </a:r>
          </a:p>
        </p:txBody>
      </p:sp>
      <p:sp>
        <p:nvSpPr>
          <p:cNvPr id="3" name="TextBox 2"/>
          <p:cNvSpPr txBox="1"/>
          <p:nvPr/>
        </p:nvSpPr>
        <p:spPr>
          <a:xfrm>
            <a:off x="640080" y="1463040"/>
            <a:ext cx="10972800" cy="4572000"/>
          </a:xfrm>
          <a:prstGeom prst="rect">
            <a:avLst/>
          </a:prstGeom>
          <a:noFill/>
        </p:spPr>
        <p:txBody>
          <a:bodyPr wrap="square">
            <a:spAutoFit/>
          </a:bodyPr>
          <a:lstStyle/>
          <a:p>
            <a:pPr>
              <a:lnSpc>
                <a:spcPct val="100000"/>
              </a:lnSpc>
              <a:spcAft>
                <a:spcPts val="2400"/>
              </a:spcAft>
            </a:pPr>
            <a:r>
              <a:rPr sz="1800" b="1">
                <a:solidFill>
                  <a:srgbClr val="F28B9B"/>
                </a:solidFill>
                <a:latin typeface="DejaVu Sans"/>
                <a:hlinkClick r:id="rId3"/>
              </a:rPr>
              <a:t>Explore the project: github.com/leonardoAB1/maus-crepe-insights</a:t>
            </a:r>
          </a:p>
          <a:p>
            <a:pPr>
              <a:lnSpc>
                <a:spcPct val="100000"/>
              </a:lnSpc>
              <a:spcAft>
                <a:spcPts val="2200"/>
              </a:spcAft>
            </a:pPr>
            <a:r>
              <a:rPr sz="1800" b="1">
                <a:solidFill>
                  <a:srgbClr val="E8A87C"/>
                </a:solidFill>
                <a:latin typeface="DejaVu Sans"/>
              </a:rPr>
              <a:t>Compare batches using the run table, camera-derived metrics and recipe settings.</a:t>
            </a:r>
          </a:p>
          <a:p>
            <a:pPr>
              <a:lnSpc>
                <a:spcPct val="100000"/>
              </a:lnSpc>
              <a:spcAft>
                <a:spcPts val="1200"/>
              </a:spcAft>
            </a:pPr>
            <a:r>
              <a:rPr sz="1700" b="0">
                <a:solidFill>
                  <a:srgbClr val="4A3226"/>
                </a:solidFill>
                <a:latin typeface="DejaVu Sans"/>
              </a:rPr>
              <a:t>Bring more run records and check images into the analysis, then use the evidence to shape the next experiment.</a:t>
            </a:r>
          </a:p>
        </p:txBody>
      </p:sp>
      <p:sp>
        <p:nvSpPr>
          <p:cNvPr id="4" name="TextBox 3"/>
          <p:cNvSpPr txBox="1"/>
          <p:nvPr/>
        </p:nvSpPr>
        <p:spPr>
          <a:xfrm>
            <a:off x="548640" y="6327648"/>
            <a:ext cx="9601200" cy="365760"/>
          </a:xfrm>
          <a:prstGeom prst="rect">
            <a:avLst/>
          </a:prstGeom>
          <a:noFill/>
        </p:spPr>
        <p:txBody>
          <a:bodyPr wrap="square">
            <a:spAutoFit/>
          </a:bodyPr>
          <a:lstStyle/>
          <a:p>
            <a:r>
              <a:rPr sz="1000" b="0">
                <a:solidFill>
                  <a:srgbClr val="9C7A63"/>
                </a:solidFill>
                <a:latin typeface="DejaVu Sans"/>
              </a:rPr>
              <a:t>Public code; run data stays private</a:t>
            </a:r>
          </a:p>
        </p:txBody>
      </p:sp>
      <p:sp>
        <p:nvSpPr>
          <p:cNvPr id="5" name="TextBox 4"/>
          <p:cNvSpPr txBox="1"/>
          <p:nvPr/>
        </p:nvSpPr>
        <p:spPr>
          <a:xfrm>
            <a:off x="11247120" y="6327648"/>
            <a:ext cx="548640" cy="365760"/>
          </a:xfrm>
          <a:prstGeom prst="rect">
            <a:avLst/>
          </a:prstGeom>
          <a:noFill/>
        </p:spPr>
        <p:txBody>
          <a:bodyPr wrap="square">
            <a:spAutoFit/>
          </a:bodyPr>
          <a:lstStyle/>
          <a:p>
            <a:pPr algn="r"/>
            <a:r>
              <a:rPr sz="1000" b="0">
                <a:solidFill>
                  <a:srgbClr val="9C7A63"/>
                </a:solidFill>
                <a:latin typeface="DejaVu Sans"/>
              </a:rPr>
              <a:t>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