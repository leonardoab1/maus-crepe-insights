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in one line: Maus robots make crepes on their own, every run is logged, and we turned those logs into measurements, models and next experiments. Everything in this deck comes from the repository's own documentation, its model cards, or a private data export. The repository is public; the Maus run data is not.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headline numbers, then the honest read said plainly. 828 runs logged, 138 vision-scored. Four check-verdict heads plus a fold-class model. The caveats are the point: three of four check heads do not generalize, fold-class is 0.99 on weak labels and collapses on a held-out robot, and 690 of 828 runs have no camera measurement because checks only exist from 13 October.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repository is public at github.com/leonardoAB1/maus-crepe-insights, and there is a live site - the placeholder link in the deck still needs the real URL dropped in. The ask is one line: more check records and interleaved runs per robot, which is what turns every 'we cannot tell yet' into an answer. We never send anything to a robot; the next batch is a run sheet a person runs by hand.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6EC"/>
        </a:solidFill>
        <a:effectLst/>
      </p:bgPr>
    </p:bg>
    <p:spTree>
      <p:nvGrpSpPr>
        <p:cNvPr id="1" name=""/>
        <p:cNvGrpSpPr/>
        <p:nvPr/>
      </p:nvGrpSpPr>
      <p:grpSpPr/>
      <p:sp>
        <p:nvSpPr>
          <p:cNvPr id="2" name="TextBox 1"/>
          <p:cNvSpPr txBox="1"/>
          <p:nvPr/>
        </p:nvSpPr>
        <p:spPr>
          <a:xfrm>
            <a:off x="822960" y="1417320"/>
            <a:ext cx="10515600" cy="1188720"/>
          </a:xfrm>
          <a:prstGeom prst="rect">
            <a:avLst/>
          </a:prstGeom>
          <a:noFill/>
        </p:spPr>
        <p:txBody>
          <a:bodyPr wrap="square">
            <a:spAutoFit/>
          </a:bodyPr>
          <a:lstStyle/>
          <a:p>
            <a:pPr algn="ctr"/>
            <a:r>
              <a:rPr sz="4800" b="1">
                <a:solidFill>
                  <a:srgbClr val="4A3226"/>
                </a:solidFill>
                <a:latin typeface="DejaVu Sans"/>
              </a:rPr>
              <a:t>Maus Crepe Insights</a:t>
            </a:r>
          </a:p>
        </p:txBody>
      </p:sp>
      <p:sp>
        <p:nvSpPr>
          <p:cNvPr id="3" name="TextBox 2"/>
          <p:cNvSpPr txBox="1"/>
          <p:nvPr/>
        </p:nvSpPr>
        <p:spPr>
          <a:xfrm>
            <a:off x="1188720" y="2880360"/>
            <a:ext cx="9784080" cy="1097280"/>
          </a:xfrm>
          <a:prstGeom prst="rect">
            <a:avLst/>
          </a:prstGeom>
          <a:noFill/>
        </p:spPr>
        <p:txBody>
          <a:bodyPr wrap="square">
            <a:spAutoFit/>
          </a:bodyPr>
          <a:lstStyle/>
          <a:p>
            <a:pPr algn="ctr"/>
            <a:r>
              <a:rPr sz="2200" b="0">
                <a:solidFill>
                  <a:srgbClr val="F28B9B"/>
                </a:solidFill>
                <a:latin typeface="DejaVu Sans"/>
              </a:rPr>
              <a:t>We turned 828 robot crepe runs into measurements, models and next experiments.</a:t>
            </a:r>
          </a:p>
        </p:txBody>
      </p:sp>
      <p:sp>
        <p:nvSpPr>
          <p:cNvPr id="4" name="TextBox 3"/>
          <p:cNvSpPr txBox="1"/>
          <p:nvPr/>
        </p:nvSpPr>
        <p:spPr>
          <a:xfrm>
            <a:off x="1188720" y="4160520"/>
            <a:ext cx="9784080" cy="548640"/>
          </a:xfrm>
          <a:prstGeom prst="rect">
            <a:avLst/>
          </a:prstGeom>
          <a:noFill/>
        </p:spPr>
        <p:txBody>
          <a:bodyPr wrap="square">
            <a:spAutoFit/>
          </a:bodyPr>
          <a:lstStyle/>
          <a:p>
            <a:pPr algn="ctr"/>
            <a:r>
              <a:rPr sz="1400" b="0">
                <a:solidFill>
                  <a:srgbClr val="9C7A63"/>
                </a:solidFill>
                <a:latin typeface="DejaVu Sans"/>
              </a:rPr>
              <a:t>BaselHack 2026 - Maus Robotics challenge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6EC"/>
        </a:solidFill>
        <a:effectLst/>
      </p:bgPr>
    </p:bg>
    <p:spTree>
      <p:nvGrpSpPr>
        <p:cNvPr id="1" name=""/>
        <p:cNvGrpSpPr/>
        <p:nvPr/>
      </p:nvGrpSpPr>
      <p:grpSpPr/>
      <p:sp>
        <p:nvSpPr>
          <p:cNvPr id="2" name="TextBox 1"/>
          <p:cNvSpPr txBox="1"/>
          <p:nvPr/>
        </p:nvSpPr>
        <p:spPr>
          <a:xfrm>
            <a:off x="548640" y="292608"/>
            <a:ext cx="11064240" cy="822960"/>
          </a:xfrm>
          <a:prstGeom prst="rect">
            <a:avLst/>
          </a:prstGeom>
          <a:noFill/>
        </p:spPr>
        <p:txBody>
          <a:bodyPr wrap="square">
            <a:spAutoFit/>
          </a:bodyPr>
          <a:lstStyle/>
          <a:p>
            <a:pPr algn="l"/>
            <a:r>
              <a:rPr sz="3000" b="1">
                <a:solidFill>
                  <a:srgbClr val="4A3226"/>
                </a:solidFill>
                <a:latin typeface="DejaVu Sans"/>
              </a:rPr>
              <a:t>What we built</a:t>
            </a:r>
          </a:p>
        </p:txBody>
      </p:sp>
      <p:sp>
        <p:nvSpPr>
          <p:cNvPr id="3" name="Rounded Rectangle 2"/>
          <p:cNvSpPr/>
          <p:nvPr/>
        </p:nvSpPr>
        <p:spPr>
          <a:xfrm>
            <a:off x="365760" y="1325880"/>
            <a:ext cx="2658618" cy="2286000"/>
          </a:xfrm>
          <a:prstGeom prst="roundRect">
            <a:avLst>
              <a:gd name="adj" fmla="val 12000"/>
            </a:avLst>
          </a:prstGeom>
          <a:solidFill>
            <a:srgbClr val="E8A87C"/>
          </a:solidFill>
          <a:ln w="15875">
            <a:solidFill>
              <a:srgbClr val="E8A87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19456" bIns="146304"/>
          <a:lstStyle/>
          <a:p>
            <a:pPr algn="l"/>
            <a:r>
              <a:rPr sz="4000" b="1">
                <a:solidFill>
                  <a:srgbClr val="4A3226"/>
                </a:solidFill>
                <a:latin typeface="DejaVu Sans"/>
              </a:rPr>
              <a:t>828</a:t>
            </a:r>
          </a:p>
          <a:p>
            <a:pPr algn="l">
              <a:spcBef>
                <a:spcPts val="400"/>
              </a:spcBef>
            </a:pPr>
            <a:r>
              <a:rPr sz="1500" b="1">
                <a:solidFill>
                  <a:srgbClr val="4A3226"/>
                </a:solidFill>
                <a:latin typeface="DejaVu Sans"/>
              </a:rPr>
              <a:t>runs logged</a:t>
            </a:r>
          </a:p>
          <a:p>
            <a:pPr algn="l">
              <a:spcBef>
                <a:spcPts val="600"/>
              </a:spcBef>
            </a:pPr>
            <a:r>
              <a:rPr sz="1100" b="0">
                <a:solidFill>
                  <a:srgbClr val="4A3226"/>
                </a:solidFill>
                <a:latin typeface="DejaVu Sans"/>
              </a:rPr>
              <a:t>2 Sep to 30 Oct 2026</a:t>
            </a:r>
          </a:p>
        </p:txBody>
      </p:sp>
      <p:sp>
        <p:nvSpPr>
          <p:cNvPr id="4" name="Rounded Rectangle 3"/>
          <p:cNvSpPr/>
          <p:nvPr/>
        </p:nvSpPr>
        <p:spPr>
          <a:xfrm>
            <a:off x="3298698" y="1325880"/>
            <a:ext cx="2658618" cy="2286000"/>
          </a:xfrm>
          <a:prstGeom prst="roundRect">
            <a:avLst>
              <a:gd name="adj" fmla="val 12000"/>
            </a:avLst>
          </a:prstGeom>
          <a:solidFill>
            <a:srgbClr val="F28B9B"/>
          </a:solidFill>
          <a:ln w="15875">
            <a:solidFill>
              <a:srgbClr val="E8A87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19456" bIns="146304"/>
          <a:lstStyle/>
          <a:p>
            <a:pPr algn="l"/>
            <a:r>
              <a:rPr sz="4000" b="1">
                <a:solidFill>
                  <a:srgbClr val="4A3226"/>
                </a:solidFill>
                <a:latin typeface="DejaVu Sans"/>
              </a:rPr>
              <a:t>138</a:t>
            </a:r>
          </a:p>
          <a:p>
            <a:pPr algn="l">
              <a:spcBef>
                <a:spcPts val="400"/>
              </a:spcBef>
            </a:pPr>
            <a:r>
              <a:rPr sz="1500" b="1">
                <a:solidFill>
                  <a:srgbClr val="4A3226"/>
                </a:solidFill>
                <a:latin typeface="DejaVu Sans"/>
              </a:rPr>
              <a:t>vision-scored runs</a:t>
            </a:r>
          </a:p>
          <a:p>
            <a:pPr algn="l">
              <a:spcBef>
                <a:spcPts val="600"/>
              </a:spcBef>
            </a:pPr>
            <a:r>
              <a:rPr sz="1100" b="0">
                <a:solidFill>
                  <a:srgbClr val="4A3226"/>
                </a:solidFill>
                <a:latin typeface="DejaVu Sans"/>
              </a:rPr>
              <a:t>all in October</a:t>
            </a:r>
          </a:p>
        </p:txBody>
      </p:sp>
      <p:sp>
        <p:nvSpPr>
          <p:cNvPr id="5" name="Rounded Rectangle 4"/>
          <p:cNvSpPr/>
          <p:nvPr/>
        </p:nvSpPr>
        <p:spPr>
          <a:xfrm>
            <a:off x="6231636" y="1325880"/>
            <a:ext cx="2658618" cy="2286000"/>
          </a:xfrm>
          <a:prstGeom prst="roundRect">
            <a:avLst>
              <a:gd name="adj" fmla="val 12000"/>
            </a:avLst>
          </a:prstGeom>
          <a:solidFill>
            <a:srgbClr val="E8A87C"/>
          </a:solidFill>
          <a:ln w="15875">
            <a:solidFill>
              <a:srgbClr val="E8A87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19456" bIns="146304"/>
          <a:lstStyle/>
          <a:p>
            <a:pPr algn="l"/>
            <a:r>
              <a:rPr sz="4000" b="1">
                <a:solidFill>
                  <a:srgbClr val="4A3226"/>
                </a:solidFill>
                <a:latin typeface="DejaVu Sans"/>
              </a:rPr>
              <a:t>4</a:t>
            </a:r>
          </a:p>
          <a:p>
            <a:pPr algn="l">
              <a:spcBef>
                <a:spcPts val="400"/>
              </a:spcBef>
            </a:pPr>
            <a:r>
              <a:rPr sz="1500" b="1">
                <a:solidFill>
                  <a:srgbClr val="4A3226"/>
                </a:solidFill>
                <a:latin typeface="DejaVu Sans"/>
              </a:rPr>
              <a:t>check-verdict heads</a:t>
            </a:r>
          </a:p>
          <a:p>
            <a:pPr algn="l">
              <a:spcBef>
                <a:spcPts val="600"/>
              </a:spcBef>
            </a:pPr>
            <a:r>
              <a:rPr sz="1100" b="0">
                <a:solidFill>
                  <a:srgbClr val="4A3226"/>
                </a:solidFill>
                <a:latin typeface="DejaVu Sans"/>
              </a:rPr>
              <a:t>one per check, ONNX</a:t>
            </a:r>
          </a:p>
        </p:txBody>
      </p:sp>
      <p:sp>
        <p:nvSpPr>
          <p:cNvPr id="6" name="Rounded Rectangle 5"/>
          <p:cNvSpPr/>
          <p:nvPr/>
        </p:nvSpPr>
        <p:spPr>
          <a:xfrm>
            <a:off x="9164574" y="1325880"/>
            <a:ext cx="2658618" cy="2286000"/>
          </a:xfrm>
          <a:prstGeom prst="roundRect">
            <a:avLst>
              <a:gd name="adj" fmla="val 12000"/>
            </a:avLst>
          </a:prstGeom>
          <a:solidFill>
            <a:srgbClr val="F28B9B"/>
          </a:solidFill>
          <a:ln w="15875">
            <a:solidFill>
              <a:srgbClr val="E8A87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19456" bIns="146304"/>
          <a:lstStyle/>
          <a:p>
            <a:pPr algn="l"/>
            <a:r>
              <a:rPr sz="4000" b="1">
                <a:solidFill>
                  <a:srgbClr val="4A3226"/>
                </a:solidFill>
                <a:latin typeface="DejaVu Sans"/>
              </a:rPr>
              <a:t>1</a:t>
            </a:r>
          </a:p>
          <a:p>
            <a:pPr algn="l">
              <a:spcBef>
                <a:spcPts val="400"/>
              </a:spcBef>
            </a:pPr>
            <a:r>
              <a:rPr sz="1500" b="1">
                <a:solidFill>
                  <a:srgbClr val="4A3226"/>
                </a:solidFill>
                <a:latin typeface="DejaVu Sans"/>
              </a:rPr>
              <a:t>fold-class model</a:t>
            </a:r>
          </a:p>
          <a:p>
            <a:pPr algn="l">
              <a:spcBef>
                <a:spcPts val="600"/>
              </a:spcBef>
            </a:pPr>
            <a:r>
              <a:rPr sz="1100" b="0">
                <a:solidFill>
                  <a:srgbClr val="4A3226"/>
                </a:solidFill>
                <a:latin typeface="DejaVu Sans"/>
              </a:rPr>
              <a:t>empty / flat / half / quarter</a:t>
            </a:r>
          </a:p>
        </p:txBody>
      </p:sp>
      <p:sp>
        <p:nvSpPr>
          <p:cNvPr id="7" name="TextBox 6"/>
          <p:cNvSpPr txBox="1"/>
          <p:nvPr/>
        </p:nvSpPr>
        <p:spPr>
          <a:xfrm>
            <a:off x="640080" y="3977640"/>
            <a:ext cx="10972800" cy="2103120"/>
          </a:xfrm>
          <a:prstGeom prst="rect">
            <a:avLst/>
          </a:prstGeom>
          <a:noFill/>
        </p:spPr>
        <p:txBody>
          <a:bodyPr wrap="square">
            <a:spAutoFit/>
          </a:bodyPr>
          <a:lstStyle/>
          <a:p>
            <a:pPr>
              <a:lnSpc>
                <a:spcPct val="100000"/>
              </a:lnSpc>
              <a:spcAft>
                <a:spcPts val="900"/>
              </a:spcAft>
            </a:pPr>
            <a:r>
              <a:rPr sz="1300" b="0">
                <a:solidFill>
                  <a:srgbClr val="4A3226"/>
                </a:solidFill>
                <a:latin typeface="DejaVu Sans"/>
              </a:rPr>
              <a:t>- Honest read: three of four check heads do not generalize (balanced accuracy 0.67 to 0.92 on 31 to 61 frame holdouts).</a:t>
            </a:r>
          </a:p>
          <a:p>
            <a:pPr>
              <a:lnSpc>
                <a:spcPct val="100000"/>
              </a:lnSpc>
              <a:spcAft>
                <a:spcPts val="900"/>
              </a:spcAft>
            </a:pPr>
            <a:r>
              <a:rPr sz="1300" b="0">
                <a:solidFill>
                  <a:srgbClr val="4A3226"/>
                </a:solidFill>
                <a:latin typeface="DejaVu Sans"/>
              </a:rPr>
              <a:t>- fold-class scores 0.99 on 110 frames, but on weak labels; quarter recall drops to 0.02 of 82 frames when maus-quin is held out.</a:t>
            </a:r>
          </a:p>
          <a:p>
            <a:pPr>
              <a:lnSpc>
                <a:spcPct val="100000"/>
              </a:lnSpc>
              <a:spcAft>
                <a:spcPts val="900"/>
              </a:spcAft>
            </a:pPr>
            <a:r>
              <a:rPr sz="1300" b="0">
                <a:solidFill>
                  <a:srgbClr val="4A3226"/>
                </a:solidFill>
                <a:latin typeface="DejaVu Sans"/>
              </a:rPr>
              <a:t>- 690 of the 828 runs have no camera measurement at all - checks only exist from 13 October, so they are unmeasured, not evidence.</a:t>
            </a:r>
          </a:p>
        </p:txBody>
      </p:sp>
      <p:sp>
        <p:nvSpPr>
          <p:cNvPr id="8" name="TextBox 7"/>
          <p:cNvSpPr txBox="1"/>
          <p:nvPr/>
        </p:nvSpPr>
        <p:spPr>
          <a:xfrm>
            <a:off x="548640" y="6327648"/>
            <a:ext cx="9601200" cy="365760"/>
          </a:xfrm>
          <a:prstGeom prst="rect">
            <a:avLst/>
          </a:prstGeom>
          <a:noFill/>
        </p:spPr>
        <p:txBody>
          <a:bodyPr wrap="square">
            <a:spAutoFit/>
          </a:bodyPr>
          <a:lstStyle/>
          <a:p>
            <a:r>
              <a:rPr sz="1000" b="0">
                <a:solidFill>
                  <a:srgbClr val="9C7A63"/>
                </a:solidFill>
                <a:latin typeface="DejaVu Sans"/>
              </a:rPr>
              <a:t>Source: runs.parquet, vision.parquet, model cards</a:t>
            </a:r>
          </a:p>
        </p:txBody>
      </p:sp>
      <p:sp>
        <p:nvSpPr>
          <p:cNvPr id="9" name="TextBox 8"/>
          <p:cNvSpPr txBox="1"/>
          <p:nvPr/>
        </p:nvSpPr>
        <p:spPr>
          <a:xfrm>
            <a:off x="11247120" y="6327648"/>
            <a:ext cx="548640" cy="365760"/>
          </a:xfrm>
          <a:prstGeom prst="rect">
            <a:avLst/>
          </a:prstGeom>
          <a:noFill/>
        </p:spPr>
        <p:txBody>
          <a:bodyPr wrap="square">
            <a:spAutoFit/>
          </a:bodyPr>
          <a:lstStyle/>
          <a:p>
            <a:pPr algn="r"/>
            <a:r>
              <a:rPr sz="1000" b="0">
                <a:solidFill>
                  <a:srgbClr val="9C7A63"/>
                </a:solidFill>
                <a:latin typeface="DejaVu San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6EC"/>
        </a:solidFill>
        <a:effectLst/>
      </p:bgPr>
    </p:bg>
    <p:spTree>
      <p:nvGrpSpPr>
        <p:cNvPr id="1" name=""/>
        <p:cNvGrpSpPr/>
        <p:nvPr/>
      </p:nvGrpSpPr>
      <p:grpSpPr/>
      <p:sp>
        <p:nvSpPr>
          <p:cNvPr id="2" name="TextBox 1"/>
          <p:cNvSpPr txBox="1"/>
          <p:nvPr/>
        </p:nvSpPr>
        <p:spPr>
          <a:xfrm>
            <a:off x="548640" y="292608"/>
            <a:ext cx="11064240" cy="822960"/>
          </a:xfrm>
          <a:prstGeom prst="rect">
            <a:avLst/>
          </a:prstGeom>
          <a:noFill/>
        </p:spPr>
        <p:txBody>
          <a:bodyPr wrap="square">
            <a:spAutoFit/>
          </a:bodyPr>
          <a:lstStyle/>
          <a:p>
            <a:pPr algn="l"/>
            <a:r>
              <a:rPr sz="3000" b="1">
                <a:solidFill>
                  <a:srgbClr val="4A3226"/>
                </a:solidFill>
                <a:latin typeface="DejaVu Sans"/>
              </a:rPr>
              <a:t>See it live</a:t>
            </a:r>
          </a:p>
        </p:txBody>
      </p:sp>
      <p:sp>
        <p:nvSpPr>
          <p:cNvPr id="3" name="TextBox 2"/>
          <p:cNvSpPr txBox="1"/>
          <p:nvPr/>
        </p:nvSpPr>
        <p:spPr>
          <a:xfrm>
            <a:off x="640080" y="1463040"/>
            <a:ext cx="10972800" cy="4572000"/>
          </a:xfrm>
          <a:prstGeom prst="rect">
            <a:avLst/>
          </a:prstGeom>
          <a:noFill/>
        </p:spPr>
        <p:txBody>
          <a:bodyPr wrap="square">
            <a:spAutoFit/>
          </a:bodyPr>
          <a:lstStyle/>
          <a:p>
            <a:pPr>
              <a:lnSpc>
                <a:spcPct val="100000"/>
              </a:lnSpc>
              <a:spcAft>
                <a:spcPts val="2600"/>
              </a:spcAft>
            </a:pPr>
            <a:r>
              <a:rPr sz="2000" b="1">
                <a:solidFill>
                  <a:srgbClr val="F28B9B"/>
                </a:solidFill>
                <a:latin typeface="DejaVu Sans"/>
              </a:rPr>
              <a:t>Website: https://YOUR-WEBSITE-HERE.example</a:t>
            </a:r>
          </a:p>
          <a:p>
            <a:pPr>
              <a:lnSpc>
                <a:spcPct val="100000"/>
              </a:lnSpc>
              <a:spcAft>
                <a:spcPts val="2600"/>
              </a:spcAft>
            </a:pPr>
            <a:r>
              <a:rPr sz="2000" b="1">
                <a:solidFill>
                  <a:srgbClr val="E8A87C"/>
                </a:solidFill>
                <a:latin typeface="DejaVu Sans"/>
              </a:rPr>
              <a:t>Repo: https://github.com/leonardoAB1/maus-crepe-insights</a:t>
            </a:r>
          </a:p>
          <a:p>
            <a:pPr>
              <a:lnSpc>
                <a:spcPct val="100000"/>
              </a:lnSpc>
              <a:spcAft>
                <a:spcPts val="1200"/>
              </a:spcAft>
            </a:pPr>
            <a:r>
              <a:rPr sz="1700" b="0">
                <a:solidFill>
                  <a:srgbClr val="4A3226"/>
                </a:solidFill>
                <a:latin typeface="DejaVu Sans"/>
              </a:rPr>
              <a:t>Ask: more check records, because 117 of the 148 failed runs have none, and about 140 to 150 interleaved runs per robot, to turn the open questions into answers.</a:t>
            </a:r>
          </a:p>
        </p:txBody>
      </p:sp>
      <p:sp>
        <p:nvSpPr>
          <p:cNvPr id="4" name="TextBox 3"/>
          <p:cNvSpPr txBox="1"/>
          <p:nvPr/>
        </p:nvSpPr>
        <p:spPr>
          <a:xfrm>
            <a:off x="548640" y="6327648"/>
            <a:ext cx="9601200" cy="365760"/>
          </a:xfrm>
          <a:prstGeom prst="rect">
            <a:avLst/>
          </a:prstGeom>
          <a:noFill/>
        </p:spPr>
        <p:txBody>
          <a:bodyPr wrap="square">
            <a:spAutoFit/>
          </a:bodyPr>
          <a:lstStyle/>
          <a:p>
            <a:r>
              <a:rPr sz="1000" b="0">
                <a:solidFill>
                  <a:srgbClr val="9C7A63"/>
                </a:solidFill>
                <a:latin typeface="DejaVu Sans"/>
              </a:rPr>
              <a:t>Public repo; the Maus run data stays out of Git</a:t>
            </a:r>
          </a:p>
        </p:txBody>
      </p:sp>
      <p:sp>
        <p:nvSpPr>
          <p:cNvPr id="5" name="TextBox 4"/>
          <p:cNvSpPr txBox="1"/>
          <p:nvPr/>
        </p:nvSpPr>
        <p:spPr>
          <a:xfrm>
            <a:off x="11247120" y="6327648"/>
            <a:ext cx="548640" cy="365760"/>
          </a:xfrm>
          <a:prstGeom prst="rect">
            <a:avLst/>
          </a:prstGeom>
          <a:noFill/>
        </p:spPr>
        <p:txBody>
          <a:bodyPr wrap="square">
            <a:spAutoFit/>
          </a:bodyPr>
          <a:lstStyle/>
          <a:p>
            <a:pPr algn="r"/>
            <a:r>
              <a:rPr sz="1000" b="0">
                <a:solidFill>
                  <a:srgbClr val="9C7A63"/>
                </a:solidFill>
                <a:latin typeface="DejaVu Sans"/>
              </a:rPr>
              <a:t>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