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in one line: Maus robots make crepes on their own, every run is logged, and we turned those logs into measurements, models and next experiments. Everything in this deck comes from the repository's own documentation, its model cards, or its private data export. The repository is public; the Maus run data is not.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robot already sees a lot; the problem is that the outcome is a verdict, not a measurement. That gap is what the whole project works on. State the brief plainly here, because the next slides score it honestly.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account window and the camera-check cutoff explain nearly every limitation later. The 690 runs without measurements are not evidence of anything; they are simply unmeasured.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raw data, then a standard container, then tables, then measurements, then models, then a viewer to inspect all of it. The models are experiments with cards, not shipped products; the next slides say why.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consequences. A failed check does not stop the run, so failure analysis cannot use where a run stopped. And spread and folds are the weak points worth measuring properly. These counts are the robot's own verdicts over runs with check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shows two annotated examples we may publish: left, a spread check flagged for a large off-centre hole; right, a fold 2 check flagged as not a quarter fold. These are the robot's own annotations read back as numbers, not a new model. This is the one place we turn a verdict into 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read the repository's own weak-number pages support but its status table does not repeat. The point is not that the models are bad; it is that we know exactly how weak they are, and we say so. The next slide shows the cross-robot picture.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balanced accuracy per check, a robot's own holdout versus that robot held out entirely. push_off transfers well; spread and fold2 do not, which is the counterweight to any single headline number. Right: a deliberate failure case of the colour-and-connectivity pixel-mask suggester, which calls a dark stain a hole. That is why every suggestion is an editable draft a human confirms, never an accepted label.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mask contract is strict on purpose: material and hole masks must not overlap, holes are enclosed gaps only, and an empty result is never recorded as no crepe. The prefill is plain colour and connectivity work, deliberately not a learned model. No model has been trained on these labels yet, which is the single biggest gap in the modelling story.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map a jury looks for: the brief on the left, the verdict on the right. Be willing to say not delivered. Task 2 is the clearest miss; Level 2 is the second. Stating it plainly is stronger than a soft claim, because the repository's own status page says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on purpose. One unsupported claim in a judged repository discredits everything around it, so the weak numbers go up front with the file or command that produced them. The biggest single item left is landing the draft stack; the second is the missing inference entry point.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DoE is a Definitive Screening Design: three levels per setting, main effects independent of each other and of curvature, plus three centre runs for noise. We never send anything to a robot; the sheet is a file someone runs by hand. The honest message is that the next answer comes from new data, not from more modelling on 138 runs.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one-minute check. Everything else in this deck should be verifiable from the repository; anything not verifiable is labelled as unverified in the docs. Be honest that the tests take about four minutes, not one, but they run offline exactly as claimed.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repository and the status page, not on a model number. The value we bring Maus is a measured, documented pipeline and a clear list of what the next runs would settle.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1920240"/>
            <a:ext cx="9966960" cy="1280160"/>
          </a:xfrm>
          <a:prstGeom prst="rect">
            <a:avLst/>
          </a:prstGeom>
          <a:noFill/>
        </p:spPr>
        <p:txBody>
          <a:bodyPr wrap="square">
            <a:spAutoFit/>
          </a:bodyPr>
          <a:lstStyle/>
          <a:p>
            <a:pPr algn="ctr"/>
            <a:r>
              <a:rPr sz="4400" b="1">
                <a:solidFill>
                  <a:srgbClr val="1A1A1A"/>
                </a:solidFill>
                <a:latin typeface="DejaVu Sans"/>
              </a:rPr>
              <a:t>Maus Crepe Insights</a:t>
            </a:r>
          </a:p>
        </p:txBody>
      </p:sp>
      <p:sp>
        <p:nvSpPr>
          <p:cNvPr id="3" name="TextBox 2"/>
          <p:cNvSpPr txBox="1"/>
          <p:nvPr/>
        </p:nvSpPr>
        <p:spPr>
          <a:xfrm>
            <a:off x="1463040" y="3383280"/>
            <a:ext cx="9235440" cy="2011680"/>
          </a:xfrm>
          <a:prstGeom prst="rect">
            <a:avLst/>
          </a:prstGeom>
          <a:noFill/>
        </p:spPr>
        <p:txBody>
          <a:bodyPr wrap="square">
            <a:spAutoFit/>
          </a:bodyPr>
          <a:lstStyle/>
          <a:p>
            <a:pPr algn="ctr">
              <a:spcAft>
                <a:spcPts val="600"/>
              </a:spcAft>
            </a:pPr>
            <a:r>
              <a:rPr sz="1800" b="0">
                <a:solidFill>
                  <a:srgbClr val="1A1A1A"/>
                </a:solidFill>
                <a:latin typeface="DejaVu Sans"/>
              </a:rPr>
              <a:t>Why crepe runs fail, and what to change</a:t>
            </a:r>
          </a:p>
          <a:p>
            <a:pPr algn="ctr">
              <a:spcAft>
                <a:spcPts val="600"/>
              </a:spcAft>
            </a:pPr>
            <a:r>
              <a:rPr sz="1400" b="0">
                <a:solidFill>
                  <a:srgbClr val="6B6B6B"/>
                </a:solidFill>
                <a:latin typeface="DejaVu Sans"/>
              </a:rPr>
              <a:t>BaselHack 2026, Maus Robotics challenge</a:t>
            </a:r>
          </a:p>
          <a:p>
            <a:pPr algn="ctr">
              <a:spcAft>
                <a:spcPts val="600"/>
              </a:spcAft>
            </a:pPr>
            <a:r>
              <a:rPr sz="1400" b="0">
                <a:solidFill>
                  <a:srgbClr val="6B6B6B"/>
                </a:solidFill>
                <a:latin typeface="DejaVu Sans"/>
              </a:rPr>
              <a:t>Repo: github.com/leonardoAB1/maus-crepe-insights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64240" cy="822960"/>
          </a:xfrm>
          <a:prstGeom prst="rect">
            <a:avLst/>
          </a:prstGeom>
          <a:noFill/>
        </p:spPr>
        <p:txBody>
          <a:bodyPr wrap="square">
            <a:spAutoFit/>
          </a:bodyPr>
          <a:lstStyle/>
          <a:p>
            <a:pPr algn="l"/>
            <a:r>
              <a:rPr sz="3000" b="1">
                <a:solidFill>
                  <a:srgbClr val="1A1A1A"/>
                </a:solidFill>
                <a:latin typeface="DejaVu Sans"/>
              </a:rPr>
              <a:t>The problem, and what Maus asked for</a:t>
            </a:r>
          </a:p>
        </p:txBody>
      </p:sp>
      <p:sp>
        <p:nvSpPr>
          <p:cNvPr id="3" name="TextBox 2"/>
          <p:cNvSpPr txBox="1"/>
          <p:nvPr/>
        </p:nvSpPr>
        <p:spPr>
          <a:xfrm>
            <a:off x="640080" y="1234440"/>
            <a:ext cx="10972800" cy="4754880"/>
          </a:xfrm>
          <a:prstGeom prst="rect">
            <a:avLst/>
          </a:prstGeom>
          <a:noFill/>
        </p:spPr>
        <p:txBody>
          <a:bodyPr wrap="square">
            <a:spAutoFit/>
          </a:bodyPr>
          <a:lstStyle/>
          <a:p>
            <a:pPr>
              <a:lnSpc>
                <a:spcPct val="100000"/>
              </a:lnSpc>
              <a:spcAft>
                <a:spcPts val="1000"/>
              </a:spcAft>
            </a:pPr>
            <a:r>
              <a:rPr sz="1500" b="0">
                <a:solidFill>
                  <a:srgbClr val="1A1A1A"/>
                </a:solidFill>
                <a:latin typeface="DejaVu Sans"/>
              </a:rPr>
              <a:t>The robot decides everything on board: a Raspberry Pi 5, ROS 2, two Duet motion boards, a camera over the hotplate</a:t>
            </a:r>
          </a:p>
          <a:p>
            <a:pPr>
              <a:lnSpc>
                <a:spcPct val="100000"/>
              </a:lnSpc>
              <a:spcAft>
                <a:spcPts val="1000"/>
              </a:spcAft>
            </a:pPr>
            <a:r>
              <a:rPr sz="1500" b="0">
                <a:solidFill>
                  <a:srgbClr val="1A1A1A"/>
                </a:solidFill>
                <a:latin typeface="DejaVu Sans"/>
              </a:rPr>
              <a:t>Every run is logged: phases, ROS logs, about 110 recipe settings, camera checks with images, video</a:t>
            </a:r>
          </a:p>
          <a:p>
            <a:pPr>
              <a:lnSpc>
                <a:spcPct val="100000"/>
              </a:lnSpc>
              <a:spcAft>
                <a:spcPts val="1000"/>
              </a:spcAft>
            </a:pPr>
            <a:r>
              <a:rPr sz="1500" b="0">
                <a:solidFill>
                  <a:srgbClr val="1A1A1A"/>
                </a:solidFill>
                <a:latin typeface="DejaVu Sans"/>
              </a:rPr>
              <a:t>A failure is recorded as pass or fail plus one short message: no measurement, no reason, no direction to change</a:t>
            </a:r>
          </a:p>
          <a:p>
            <a:pPr>
              <a:lnSpc>
                <a:spcPct val="100000"/>
              </a:lnSpc>
              <a:spcAft>
                <a:spcPts val="1000"/>
              </a:spcAft>
            </a:pPr>
            <a:r>
              <a:rPr sz="1500" b="0">
                <a:solidFill>
                  <a:srgbClr val="1A1A1A"/>
                </a:solidFill>
                <a:latin typeface="DejaVu Sans"/>
              </a:rPr>
              <a:t>Maus asked for three things: spread quality (mask, diameter, quality score); position and orientation (centre and angle for the spatula); fold detection (flat / half / quarter / triangle plus edge angle)</a:t>
            </a:r>
          </a:p>
          <a:p>
            <a:pPr>
              <a:lnSpc>
                <a:spcPct val="100000"/>
              </a:lnSpc>
              <a:spcAft>
                <a:spcPts val="1000"/>
              </a:spcAft>
            </a:pPr>
            <a:r>
              <a:rPr sz="1500" b="0">
                <a:solidFill>
                  <a:srgbClr val="1A1A1A"/>
                </a:solidFill>
                <a:latin typeface="DejaVu Sans"/>
              </a:rPr>
              <a:t>Scored at two levels. Level 1: works on Maus data, scored against the robot's own checks. Level 2: real time, under about 300 ms per frame on a Raspberry Pi 5 CPU</a:t>
            </a:r>
          </a:p>
        </p:txBody>
      </p:sp>
      <p:sp>
        <p:nvSpPr>
          <p:cNvPr id="4" name="TextBox 3"/>
          <p:cNvSpPr txBox="1"/>
          <p:nvPr/>
        </p:nvSpPr>
        <p:spPr>
          <a:xfrm>
            <a:off x="548640" y="6327648"/>
            <a:ext cx="9601200" cy="365760"/>
          </a:xfrm>
          <a:prstGeom prst="rect">
            <a:avLst/>
          </a:prstGeom>
          <a:noFill/>
        </p:spPr>
        <p:txBody>
          <a:bodyPr wrap="square">
            <a:spAutoFit/>
          </a:bodyPr>
          <a:lstStyle/>
          <a:p>
            <a:r>
              <a:rPr sz="1000" b="0">
                <a:solidFill>
                  <a:srgbClr val="6B6B6B"/>
                </a:solidFill>
                <a:latin typeface="DejaVu Sans"/>
              </a:rPr>
              <a:t>Source: repo challenge table (PR #86), system.md</a:t>
            </a:r>
          </a:p>
        </p:txBody>
      </p:sp>
      <p:sp>
        <p:nvSpPr>
          <p:cNvPr id="5" name="TextBox 4"/>
          <p:cNvSpPr txBox="1"/>
          <p:nvPr/>
        </p:nvSpPr>
        <p:spPr>
          <a:xfrm>
            <a:off x="11247120" y="6327648"/>
            <a:ext cx="548640" cy="365760"/>
          </a:xfrm>
          <a:prstGeom prst="rect">
            <a:avLst/>
          </a:prstGeom>
          <a:noFill/>
        </p:spPr>
        <p:txBody>
          <a:bodyPr wrap="square">
            <a:spAutoFit/>
          </a:bodyPr>
          <a:lstStyle/>
          <a:p>
            <a:pPr algn="r"/>
            <a:r>
              <a:rPr sz="1000" b="0">
                <a:solidFill>
                  <a:srgbClr val="6B6B6B"/>
                </a:solidFill>
                <a:latin typeface="DejaVu San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64240" cy="822960"/>
          </a:xfrm>
          <a:prstGeom prst="rect">
            <a:avLst/>
          </a:prstGeom>
          <a:noFill/>
        </p:spPr>
        <p:txBody>
          <a:bodyPr wrap="square">
            <a:spAutoFit/>
          </a:bodyPr>
          <a:lstStyle/>
          <a:p>
            <a:pPr algn="l"/>
            <a:r>
              <a:rPr sz="3000" b="1">
                <a:solidFill>
                  <a:srgbClr val="1A1A1A"/>
                </a:solidFill>
                <a:latin typeface="DejaVu Sans"/>
              </a:rPr>
              <a:t>What we had to work with</a:t>
            </a:r>
          </a:p>
        </p:txBody>
      </p:sp>
      <p:sp>
        <p:nvSpPr>
          <p:cNvPr id="3" name="TextBox 2"/>
          <p:cNvSpPr txBox="1"/>
          <p:nvPr/>
        </p:nvSpPr>
        <p:spPr>
          <a:xfrm>
            <a:off x="640080" y="1234440"/>
            <a:ext cx="10972800" cy="4754880"/>
          </a:xfrm>
          <a:prstGeom prst="rect">
            <a:avLst/>
          </a:prstGeom>
          <a:noFill/>
        </p:spPr>
        <p:txBody>
          <a:bodyPr wrap="square">
            <a:spAutoFit/>
          </a:bodyPr>
          <a:lstStyle/>
          <a:p>
            <a:pPr>
              <a:lnSpc>
                <a:spcPct val="100000"/>
              </a:lnSpc>
              <a:spcAft>
                <a:spcPts val="1000"/>
              </a:spcAft>
            </a:pPr>
            <a:r>
              <a:rPr sz="1500" b="0">
                <a:solidFill>
                  <a:srgbClr val="1A1A1A"/>
                </a:solidFill>
                <a:latin typeface="DejaVu Sans"/>
              </a:rPr>
              <a:t>828 runs, 2 September to 30 October 2026 (UTC), visible to one hackathon dashboard account</a:t>
            </a:r>
          </a:p>
          <a:p>
            <a:pPr>
              <a:lnSpc>
                <a:spcPct val="100000"/>
              </a:lnSpc>
              <a:spcAft>
                <a:spcPts val="1000"/>
              </a:spcAft>
            </a:pPr>
            <a:r>
              <a:rPr sz="1500" b="0">
                <a:solidFill>
                  <a:srgbClr val="1A1A1A"/>
                </a:solidFill>
                <a:latin typeface="DejaVu Sans"/>
              </a:rPr>
              <a:t>Three robots: maus-pixi 410 runs, maus-quin 384, maus-otto 34</a:t>
            </a:r>
          </a:p>
          <a:p>
            <a:pPr>
              <a:lnSpc>
                <a:spcPct val="100000"/>
              </a:lnSpc>
              <a:spcAft>
                <a:spcPts val="1000"/>
              </a:spcAft>
            </a:pPr>
            <a:r>
              <a:rPr sz="1500" b="0">
                <a:solidFill>
                  <a:srgbClr val="1A1A1A"/>
                </a:solidFill>
                <a:latin typeface="DejaVu Sans"/>
              </a:rPr>
              <a:t>633 test runs, 195 customer runs</a:t>
            </a:r>
          </a:p>
          <a:p>
            <a:pPr>
              <a:lnSpc>
                <a:spcPct val="100000"/>
              </a:lnSpc>
              <a:spcAft>
                <a:spcPts val="1000"/>
              </a:spcAft>
            </a:pPr>
            <a:r>
              <a:rPr sz="1500" b="0">
                <a:solidFill>
                  <a:srgbClr val="1A1A1A"/>
                </a:solidFill>
                <a:latin typeface="DejaVu Sans"/>
              </a:rPr>
              <a:t>Outcomes: 470 succeeded, 148 not_succeeded, 129 aborted, 81 canceled</a:t>
            </a:r>
          </a:p>
          <a:p>
            <a:pPr>
              <a:lnSpc>
                <a:spcPct val="100000"/>
              </a:lnSpc>
              <a:spcAft>
                <a:spcPts val="1000"/>
              </a:spcAft>
            </a:pPr>
            <a:r>
              <a:rPr sz="1500" b="0">
                <a:solidFill>
                  <a:srgbClr val="1A1A1A"/>
                </a:solidFill>
                <a:latin typeface="DejaVu Sans"/>
              </a:rPr>
              <a:t>Camera checks with images exist only from 13 October: 160 of the 828 runs, so 690 runs have no measurement at all</a:t>
            </a:r>
          </a:p>
          <a:p>
            <a:pPr>
              <a:lnSpc>
                <a:spcPct val="100000"/>
              </a:lnSpc>
              <a:spcAft>
                <a:spcPts val="1000"/>
              </a:spcAft>
            </a:pPr>
            <a:r>
              <a:rPr sz="1500" b="0">
                <a:solidFill>
                  <a:srgbClr val="1A1A1A"/>
                </a:solidFill>
                <a:latin typeface="DejaVu Sans"/>
              </a:rPr>
              <a:t>Every one of the 148 not_succeeded runs ends at plate_load, and 117 of them have no check data</a:t>
            </a:r>
          </a:p>
        </p:txBody>
      </p:sp>
      <p:sp>
        <p:nvSpPr>
          <p:cNvPr id="4" name="TextBox 3"/>
          <p:cNvSpPr txBox="1"/>
          <p:nvPr/>
        </p:nvSpPr>
        <p:spPr>
          <a:xfrm>
            <a:off x="548640" y="6327648"/>
            <a:ext cx="9601200" cy="365760"/>
          </a:xfrm>
          <a:prstGeom prst="rect">
            <a:avLst/>
          </a:prstGeom>
          <a:noFill/>
        </p:spPr>
        <p:txBody>
          <a:bodyPr wrap="square">
            <a:spAutoFit/>
          </a:bodyPr>
          <a:lstStyle/>
          <a:p>
            <a:r>
              <a:rPr sz="1000" b="0">
                <a:solidFill>
                  <a:srgbClr val="6B6B6B"/>
                </a:solidFill>
                <a:latin typeface="DejaVu Sans"/>
              </a:rPr>
              <a:t>Source: runs.parquet (828 rows), audit report</a:t>
            </a:r>
          </a:p>
        </p:txBody>
      </p:sp>
      <p:sp>
        <p:nvSpPr>
          <p:cNvPr id="5" name="TextBox 4"/>
          <p:cNvSpPr txBox="1"/>
          <p:nvPr/>
        </p:nvSpPr>
        <p:spPr>
          <a:xfrm>
            <a:off x="11247120" y="6327648"/>
            <a:ext cx="548640" cy="365760"/>
          </a:xfrm>
          <a:prstGeom prst="rect">
            <a:avLst/>
          </a:prstGeom>
          <a:noFill/>
        </p:spPr>
        <p:txBody>
          <a:bodyPr wrap="square">
            <a:spAutoFit/>
          </a:bodyPr>
          <a:lstStyle/>
          <a:p>
            <a:pPr algn="r"/>
            <a:r>
              <a:rPr sz="1000" b="0">
                <a:solidFill>
                  <a:srgbClr val="6B6B6B"/>
                </a:solidFill>
                <a:latin typeface="DejaVu San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64240" cy="822960"/>
          </a:xfrm>
          <a:prstGeom prst="rect">
            <a:avLst/>
          </a:prstGeom>
          <a:noFill/>
        </p:spPr>
        <p:txBody>
          <a:bodyPr wrap="square">
            <a:spAutoFit/>
          </a:bodyPr>
          <a:lstStyle/>
          <a:p>
            <a:pPr algn="l"/>
            <a:r>
              <a:rPr sz="3000" b="1">
                <a:solidFill>
                  <a:srgbClr val="1A1A1A"/>
                </a:solidFill>
                <a:latin typeface="DejaVu Sans"/>
              </a:rPr>
              <a:t>What we built</a:t>
            </a:r>
          </a:p>
        </p:txBody>
      </p:sp>
      <p:sp>
        <p:nvSpPr>
          <p:cNvPr id="3" name="TextBox 2"/>
          <p:cNvSpPr txBox="1"/>
          <p:nvPr/>
        </p:nvSpPr>
        <p:spPr>
          <a:xfrm>
            <a:off x="640080" y="1234440"/>
            <a:ext cx="10972800" cy="4754880"/>
          </a:xfrm>
          <a:prstGeom prst="rect">
            <a:avLst/>
          </a:prstGeom>
          <a:noFill/>
        </p:spPr>
        <p:txBody>
          <a:bodyPr wrap="square">
            <a:spAutoFit/>
          </a:bodyPr>
          <a:lstStyle/>
          <a:p>
            <a:pPr>
              <a:lnSpc>
                <a:spcPct val="100000"/>
              </a:lnSpc>
              <a:spcAft>
                <a:spcPts val="1000"/>
              </a:spcAft>
            </a:pPr>
            <a:r>
              <a:rPr sz="1500" b="0">
                <a:solidFill>
                  <a:srgbClr val="1A1A1A"/>
                </a:solidFill>
                <a:latin typeface="DejaVu Sans"/>
              </a:rPr>
              <a:t>Export: a read-only dashboard client over MCP and OAuth, into raw run JSON plus check images and video</a:t>
            </a:r>
          </a:p>
          <a:p>
            <a:pPr>
              <a:lnSpc>
                <a:spcPct val="100000"/>
              </a:lnSpc>
              <a:spcAft>
                <a:spcPts val="1000"/>
              </a:spcAft>
            </a:pPr>
            <a:r>
              <a:rPr sz="1500" b="0">
                <a:solidFill>
                  <a:srgbClr val="1A1A1A"/>
                </a:solidFill>
                <a:latin typeface="DejaVu Sans"/>
              </a:rPr>
              <a:t>MCAP: one ROS 2 profile file per run, 828 of them, ready for Foxglove and ros2 bag tools</a:t>
            </a:r>
          </a:p>
          <a:p>
            <a:pPr>
              <a:lnSpc>
                <a:spcPct val="100000"/>
              </a:lnSpc>
              <a:spcAft>
                <a:spcPts val="1000"/>
              </a:spcAft>
            </a:pPr>
            <a:r>
              <a:rPr sz="1500" b="0">
                <a:solidFill>
                  <a:srgbClr val="1A1A1A"/>
                </a:solidFill>
                <a:latin typeface="DejaVu Sans"/>
              </a:rPr>
              <a:t>Tables: runs.parquet, 828 rows and 177 columns; vision.parquet, 138 scored runs</a:t>
            </a:r>
          </a:p>
          <a:p>
            <a:pPr>
              <a:lnSpc>
                <a:spcPct val="100000"/>
              </a:lnSpc>
              <a:spcAft>
                <a:spcPts val="1000"/>
              </a:spcAft>
            </a:pPr>
            <a:r>
              <a:rPr sz="1500" b="0">
                <a:solidFill>
                  <a:srgbClr val="1A1A1A"/>
                </a:solidFill>
                <a:latin typeface="DejaVu Sans"/>
              </a:rPr>
              <a:t>Vision scores: the robot's own check overlays read back as numbers per run</a:t>
            </a:r>
          </a:p>
          <a:p>
            <a:pPr>
              <a:lnSpc>
                <a:spcPct val="100000"/>
              </a:lnSpc>
              <a:spcAft>
                <a:spcPts val="1000"/>
              </a:spcAft>
            </a:pPr>
            <a:r>
              <a:rPr sz="1500" b="0">
                <a:solidFill>
                  <a:srgbClr val="1A1A1A"/>
                </a:solidFill>
                <a:latin typeface="DejaVu Sans"/>
              </a:rPr>
              <a:t>Models: ONNX heads with a model card each, trained and scored by one shared per-robot harness</a:t>
            </a:r>
          </a:p>
          <a:p>
            <a:pPr>
              <a:lnSpc>
                <a:spcPct val="100000"/>
              </a:lnSpc>
              <a:spcAft>
                <a:spcPts val="1000"/>
              </a:spcAft>
            </a:pPr>
            <a:r>
              <a:rPr sz="1500" b="0">
                <a:solidFill>
                  <a:srgbClr val="1A1A1A"/>
                </a:solidFill>
                <a:latin typeface="DejaVu Sans"/>
              </a:rPr>
              <a:t>Labeling: a private local Label Studio 1.23.2 app, phase labels and material/hole masks</a:t>
            </a:r>
          </a:p>
          <a:p>
            <a:pPr>
              <a:lnSpc>
                <a:spcPct val="100000"/>
              </a:lnSpc>
              <a:spcAft>
                <a:spcPts val="1000"/>
              </a:spcAft>
            </a:pPr>
            <a:r>
              <a:rPr sz="1500" b="0">
                <a:solidFill>
                  <a:srgbClr val="1A1A1A"/>
                </a:solidFill>
                <a:latin typeface="DejaVu Sans"/>
              </a:rPr>
              <a:t>Local run viewer: plays a run video and draws what the pipeline knows per frame</a:t>
            </a:r>
          </a:p>
        </p:txBody>
      </p:sp>
      <p:sp>
        <p:nvSpPr>
          <p:cNvPr id="4" name="TextBox 3"/>
          <p:cNvSpPr txBox="1"/>
          <p:nvPr/>
        </p:nvSpPr>
        <p:spPr>
          <a:xfrm>
            <a:off x="548640" y="6327648"/>
            <a:ext cx="9601200" cy="365760"/>
          </a:xfrm>
          <a:prstGeom prst="rect">
            <a:avLst/>
          </a:prstGeom>
          <a:noFill/>
        </p:spPr>
        <p:txBody>
          <a:bodyPr wrap="square">
            <a:spAutoFit/>
          </a:bodyPr>
          <a:lstStyle/>
          <a:p>
            <a:r>
              <a:rPr sz="1000" b="0">
                <a:solidFill>
                  <a:srgbClr val="6B6B6B"/>
                </a:solidFill>
                <a:latin typeface="DejaVu Sans"/>
              </a:rPr>
              <a:t>Stays in the gitignored data/</a:t>
            </a:r>
          </a:p>
        </p:txBody>
      </p:sp>
      <p:sp>
        <p:nvSpPr>
          <p:cNvPr id="5" name="TextBox 4"/>
          <p:cNvSpPr txBox="1"/>
          <p:nvPr/>
        </p:nvSpPr>
        <p:spPr>
          <a:xfrm>
            <a:off x="11247120" y="6327648"/>
            <a:ext cx="548640" cy="365760"/>
          </a:xfrm>
          <a:prstGeom prst="rect">
            <a:avLst/>
          </a:prstGeom>
          <a:noFill/>
        </p:spPr>
        <p:txBody>
          <a:bodyPr wrap="square">
            <a:spAutoFit/>
          </a:bodyPr>
          <a:lstStyle/>
          <a:p>
            <a:pPr algn="r"/>
            <a:r>
              <a:rPr sz="1000" b="0">
                <a:solidFill>
                  <a:srgbClr val="6B6B6B"/>
                </a:solidFill>
                <a:latin typeface="DejaVu San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64240" cy="822960"/>
          </a:xfrm>
          <a:prstGeom prst="rect">
            <a:avLst/>
          </a:prstGeom>
          <a:noFill/>
        </p:spPr>
        <p:txBody>
          <a:bodyPr wrap="square">
            <a:spAutoFit/>
          </a:bodyPr>
          <a:lstStyle/>
          <a:p>
            <a:pPr algn="l"/>
            <a:r>
              <a:rPr sz="3000" b="1">
                <a:solidFill>
                  <a:srgbClr val="1A1A1A"/>
                </a:solidFill>
                <a:latin typeface="DejaVu Sans"/>
              </a:rPr>
              <a:t>Where runs fail</a:t>
            </a:r>
          </a:p>
        </p:txBody>
      </p:sp>
      <p:sp>
        <p:nvSpPr>
          <p:cNvPr id="3" name="TextBox 2"/>
          <p:cNvSpPr txBox="1"/>
          <p:nvPr/>
        </p:nvSpPr>
        <p:spPr>
          <a:xfrm>
            <a:off x="640080" y="1234440"/>
            <a:ext cx="10972800" cy="4754880"/>
          </a:xfrm>
          <a:prstGeom prst="rect">
            <a:avLst/>
          </a:prstGeom>
          <a:noFill/>
        </p:spPr>
        <p:txBody>
          <a:bodyPr wrap="square">
            <a:spAutoFit/>
          </a:bodyPr>
          <a:lstStyle/>
          <a:p>
            <a:pPr>
              <a:lnSpc>
                <a:spcPct val="100000"/>
              </a:lnSpc>
              <a:spcAft>
                <a:spcPts val="1000"/>
              </a:spcAft>
            </a:pPr>
            <a:r>
              <a:rPr sz="1500" b="0">
                <a:solidFill>
                  <a:srgbClr val="1A1A1A"/>
                </a:solidFill>
                <a:latin typeface="DejaVu Sans"/>
              </a:rPr>
              <a:t>Check fail rates over the runs that recorded a check (the robot's own verdicts):</a:t>
            </a:r>
          </a:p>
          <a:p>
            <a:pPr>
              <a:lnSpc>
                <a:spcPct val="100000"/>
              </a:lnSpc>
              <a:spcAft>
                <a:spcPts val="1000"/>
              </a:spcAft>
            </a:pPr>
            <a:r>
              <a:rPr sz="1500" b="0">
                <a:solidFill>
                  <a:srgbClr val="1A1A1A"/>
                </a:solidFill>
                <a:latin typeface="DejaVu Sans"/>
              </a:rPr>
              <a:t>plate_present 30/79, spread 38/163, fold1 19/138, fold2 34/135</a:t>
            </a:r>
          </a:p>
          <a:p>
            <a:pPr>
              <a:lnSpc>
                <a:spcPct val="100000"/>
              </a:lnSpc>
              <a:spcAft>
                <a:spcPts val="1000"/>
              </a:spcAft>
            </a:pPr>
            <a:r>
              <a:rPr sz="1500" b="0">
                <a:solidFill>
                  <a:srgbClr val="1A1A1A"/>
                </a:solidFill>
                <a:latin typeface="DejaVu Sans"/>
              </a:rPr>
              <a:t>plate_clean 20/182, plate_loaded 38/172</a:t>
            </a:r>
          </a:p>
          <a:p>
            <a:pPr>
              <a:lnSpc>
                <a:spcPct val="100000"/>
              </a:lnSpc>
              <a:spcAft>
                <a:spcPts val="1000"/>
              </a:spcAft>
            </a:pPr>
            <a:r>
              <a:rPr sz="1500" b="0">
                <a:solidFill>
                  <a:srgbClr val="1A1A1A"/>
                </a:solidFill>
                <a:latin typeface="DejaVu Sans"/>
              </a:rPr>
              <a:t>push_off 140/259: it usually fails once by design while the plate is rotated and rechecked</a:t>
            </a:r>
          </a:p>
          <a:p>
            <a:pPr>
              <a:lnSpc>
                <a:spcPct val="100000"/>
              </a:lnSpc>
              <a:spcAft>
                <a:spcPts val="1000"/>
              </a:spcAft>
            </a:pPr>
            <a:r>
              <a:rPr sz="1500" b="0">
                <a:solidFill>
                  <a:srgbClr val="1A1A1A"/>
                </a:solidFill>
                <a:latin typeface="DejaVu Sans"/>
              </a:rPr>
              <a:t>Among runs with check data, spread and the two folds explain most not_succeeded runs</a:t>
            </a:r>
          </a:p>
          <a:p>
            <a:pPr>
              <a:lnSpc>
                <a:spcPct val="100000"/>
              </a:lnSpc>
              <a:spcAft>
                <a:spcPts val="1000"/>
              </a:spcAft>
            </a:pPr>
            <a:r>
              <a:rPr sz="1500" b="0">
                <a:solidFill>
                  <a:srgbClr val="1A1A1A"/>
                </a:solidFill>
                <a:latin typeface="DejaVu Sans"/>
              </a:rPr>
              <a:t>Every not_succeeded run ends at plate_load: the robot finishes the cycle, so the reason must come from the checks and logs, not from where the run stopped</a:t>
            </a:r>
          </a:p>
          <a:p>
            <a:pPr>
              <a:lnSpc>
                <a:spcPct val="100000"/>
              </a:lnSpc>
              <a:spcAft>
                <a:spcPts val="1000"/>
              </a:spcAft>
            </a:pPr>
            <a:r>
              <a:rPr sz="1500" b="0">
                <a:solidFill>
                  <a:srgbClr val="1A1A1A"/>
                </a:solidFill>
                <a:latin typeface="DejaVu Sans"/>
              </a:rPr>
              <a:t>Cancels cluster in cook (34 of 66), the longest stage: likely a customer-facing wait</a:t>
            </a:r>
          </a:p>
        </p:txBody>
      </p:sp>
      <p:sp>
        <p:nvSpPr>
          <p:cNvPr id="4" name="TextBox 3"/>
          <p:cNvSpPr txBox="1"/>
          <p:nvPr/>
        </p:nvSpPr>
        <p:spPr>
          <a:xfrm>
            <a:off x="548640" y="6327648"/>
            <a:ext cx="9601200" cy="365760"/>
          </a:xfrm>
          <a:prstGeom prst="rect">
            <a:avLst/>
          </a:prstGeom>
          <a:noFill/>
        </p:spPr>
        <p:txBody>
          <a:bodyPr wrap="square">
            <a:spAutoFit/>
          </a:bodyPr>
          <a:lstStyle/>
          <a:p>
            <a:r>
              <a:rPr sz="1000" b="0">
                <a:solidFill>
                  <a:srgbClr val="6B6B6B"/>
                </a:solidFill>
                <a:latin typeface="DejaVu Sans"/>
              </a:rPr>
              <a:t>Source: crepe-stages.md</a:t>
            </a:r>
          </a:p>
        </p:txBody>
      </p:sp>
      <p:sp>
        <p:nvSpPr>
          <p:cNvPr id="5" name="TextBox 4"/>
          <p:cNvSpPr txBox="1"/>
          <p:nvPr/>
        </p:nvSpPr>
        <p:spPr>
          <a:xfrm>
            <a:off x="11247120" y="6327648"/>
            <a:ext cx="548640" cy="365760"/>
          </a:xfrm>
          <a:prstGeom prst="rect">
            <a:avLst/>
          </a:prstGeom>
          <a:noFill/>
        </p:spPr>
        <p:txBody>
          <a:bodyPr wrap="square">
            <a:spAutoFit/>
          </a:bodyPr>
          <a:lstStyle/>
          <a:p>
            <a:pPr algn="r"/>
            <a:r>
              <a:rPr sz="1000" b="0">
                <a:solidFill>
                  <a:srgbClr val="6B6B6B"/>
                </a:solidFill>
                <a:latin typeface="DejaVu San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64240" cy="822960"/>
          </a:xfrm>
          <a:prstGeom prst="rect">
            <a:avLst/>
          </a:prstGeom>
          <a:noFill/>
        </p:spPr>
        <p:txBody>
          <a:bodyPr wrap="square">
            <a:spAutoFit/>
          </a:bodyPr>
          <a:lstStyle/>
          <a:p>
            <a:pPr algn="l"/>
            <a:r>
              <a:rPr sz="3000" b="1">
                <a:solidFill>
                  <a:srgbClr val="1A1A1A"/>
                </a:solidFill>
                <a:latin typeface="DejaVu Sans"/>
              </a:rPr>
              <a:t>Reading the check overlays</a:t>
            </a:r>
          </a:p>
        </p:txBody>
      </p:sp>
      <p:sp>
        <p:nvSpPr>
          <p:cNvPr id="3" name="TextBox 2"/>
          <p:cNvSpPr txBox="1"/>
          <p:nvPr/>
        </p:nvSpPr>
        <p:spPr>
          <a:xfrm>
            <a:off x="640080" y="1234440"/>
            <a:ext cx="10972800" cy="2103120"/>
          </a:xfrm>
          <a:prstGeom prst="rect">
            <a:avLst/>
          </a:prstGeom>
          <a:noFill/>
        </p:spPr>
        <p:txBody>
          <a:bodyPr wrap="square">
            <a:spAutoFit/>
          </a:bodyPr>
          <a:lstStyle/>
          <a:p>
            <a:pPr>
              <a:lnSpc>
                <a:spcPct val="100000"/>
              </a:lnSpc>
              <a:spcAft>
                <a:spcPts val="1000"/>
              </a:spcAft>
            </a:pPr>
            <a:r>
              <a:rPr sz="1500" b="0">
                <a:solidFill>
                  <a:srgbClr val="1A1A1A"/>
                </a:solidFill>
                <a:latin typeface="DejaVu Sans"/>
              </a:rPr>
              <a:t>The robot's check overlay is already a top-down view with its own marks: crepe outline, holes, ideal fold shape, bare plate</a:t>
            </a:r>
          </a:p>
          <a:p>
            <a:pPr>
              <a:lnSpc>
                <a:spcPct val="100000"/>
              </a:lnSpc>
              <a:spcAft>
                <a:spcPts val="1000"/>
              </a:spcAft>
            </a:pPr>
            <a:r>
              <a:rPr sz="1500" b="0">
                <a:solidFill>
                  <a:srgbClr val="1A1A1A"/>
                </a:solidFill>
                <a:latin typeface="DejaVu Sans"/>
              </a:rPr>
              <a:t>We read those marks back as numbers per run: diameter, area, centre offset, circularity, hole fraction, residue, fold overlap, fold2 / fold1 ratio, browning</a:t>
            </a:r>
          </a:p>
          <a:p>
            <a:pPr>
              <a:lnSpc>
                <a:spcPct val="100000"/>
              </a:lnSpc>
              <a:spcAft>
                <a:spcPts val="1000"/>
              </a:spcAft>
            </a:pPr>
            <a:r>
              <a:rPr sz="1500" b="0">
                <a:solidFill>
                  <a:srgbClr val="1A1A1A"/>
                </a:solidFill>
                <a:latin typeface="DejaVu Sans"/>
              </a:rPr>
              <a:t>So a failure becomes measurable instead of pass or fail</a:t>
            </a:r>
          </a:p>
          <a:p>
            <a:pPr>
              <a:lnSpc>
                <a:spcPct val="100000"/>
              </a:lnSpc>
              <a:spcAft>
                <a:spcPts val="1000"/>
              </a:spcAft>
            </a:pPr>
            <a:r>
              <a:rPr sz="1500" b="0">
                <a:solidFill>
                  <a:srgbClr val="1A1A1A"/>
                </a:solidFill>
                <a:latin typeface="DejaVu Sans"/>
              </a:rPr>
              <a:t>Sizes are relative to the robot's analysis zone; no millimetre scale for the plate is published</a:t>
            </a:r>
          </a:p>
        </p:txBody>
      </p:sp>
      <p:pic>
        <p:nvPicPr>
          <p:cNvPr id="4" name="Picture 3" descr="vision-scores-example.jpg"/>
          <p:cNvPicPr>
            <a:picLocks noChangeAspect="1"/>
          </p:cNvPicPr>
          <p:nvPr/>
        </p:nvPicPr>
        <p:blipFill>
          <a:blip r:embed="rId2"/>
          <a:stretch>
            <a:fillRect/>
          </a:stretch>
        </p:blipFill>
        <p:spPr>
          <a:xfrm>
            <a:off x="2377440" y="3611880"/>
            <a:ext cx="5542005" cy="3154680"/>
          </a:xfrm>
          <a:prstGeom prst="rect">
            <a:avLst/>
          </a:prstGeom>
        </p:spPr>
      </p:pic>
      <p:sp>
        <p:nvSpPr>
          <p:cNvPr id="5" name="TextBox 4"/>
          <p:cNvSpPr txBox="1"/>
          <p:nvPr/>
        </p:nvSpPr>
        <p:spPr>
          <a:xfrm>
            <a:off x="548640" y="6327648"/>
            <a:ext cx="9601200" cy="365760"/>
          </a:xfrm>
          <a:prstGeom prst="rect">
            <a:avLst/>
          </a:prstGeom>
          <a:noFill/>
        </p:spPr>
        <p:txBody>
          <a:bodyPr wrap="square">
            <a:spAutoFit/>
          </a:bodyPr>
          <a:lstStyle/>
          <a:p>
            <a:r>
              <a:rPr sz="1000" b="0">
                <a:solidFill>
                  <a:srgbClr val="6B6B6B"/>
                </a:solidFill>
                <a:latin typeface="DejaVu Sans"/>
              </a:rPr>
              <a:t>Source: data/pipeline.md</a:t>
            </a:r>
          </a:p>
        </p:txBody>
      </p:sp>
      <p:sp>
        <p:nvSpPr>
          <p:cNvPr id="6" name="TextBox 5"/>
          <p:cNvSpPr txBox="1"/>
          <p:nvPr/>
        </p:nvSpPr>
        <p:spPr>
          <a:xfrm>
            <a:off x="11247120" y="6327648"/>
            <a:ext cx="548640" cy="365760"/>
          </a:xfrm>
          <a:prstGeom prst="rect">
            <a:avLst/>
          </a:prstGeom>
          <a:noFill/>
        </p:spPr>
        <p:txBody>
          <a:bodyPr wrap="square">
            <a:spAutoFit/>
          </a:bodyPr>
          <a:lstStyle/>
          <a:p>
            <a:pPr algn="r"/>
            <a:r>
              <a:rPr sz="1000" b="0">
                <a:solidFill>
                  <a:srgbClr val="6B6B6B"/>
                </a:solidFill>
                <a:latin typeface="DejaVu San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64240" cy="822960"/>
          </a:xfrm>
          <a:prstGeom prst="rect">
            <a:avLst/>
          </a:prstGeom>
          <a:noFill/>
        </p:spPr>
        <p:txBody>
          <a:bodyPr wrap="square">
            <a:spAutoFit/>
          </a:bodyPr>
          <a:lstStyle/>
          <a:p>
            <a:pPr algn="l"/>
            <a:r>
              <a:rPr sz="3000" b="1">
                <a:solidFill>
                  <a:srgbClr val="1A1A1A"/>
                </a:solidFill>
                <a:latin typeface="DejaVu Sans"/>
              </a:rPr>
              <a:t>Models: what the numbers actually say</a:t>
            </a:r>
          </a:p>
        </p:txBody>
      </p:sp>
      <p:graphicFrame>
        <p:nvGraphicFramePr>
          <p:cNvPr id="3" name="Table 2"/>
          <p:cNvGraphicFramePr>
            <a:graphicFrameLocks noGrp="1"/>
          </p:cNvGraphicFramePr>
          <p:nvPr/>
        </p:nvGraphicFramePr>
        <p:xfrm>
          <a:off x="411480" y="1234440"/>
          <a:ext cx="11384280" cy="4297680"/>
        </p:xfrm>
        <a:graphic>
          <a:graphicData uri="http://schemas.openxmlformats.org/drawingml/2006/table">
            <a:tbl>
              <a:tblPr firstRow="1" bandRow="1">
                <a:tableStyleId>{5C22544A-7EE6-4342-B048-85BDC9FD1C3A}</a:tableStyleId>
              </a:tblPr>
              <a:tblGrid>
                <a:gridCol w="2743200"/>
                <a:gridCol w="2926080"/>
                <a:gridCol w="5715000"/>
              </a:tblGrid>
              <a:tr h="716280">
                <a:tc>
                  <a:txBody>
                    <a:bodyPr wrap="square"/>
                    <a:lstStyle/>
                    <a:p>
                      <a:r>
                        <a:rPr sz="1100" b="1">
                          <a:solidFill>
                            <a:srgbClr val="FFFFFF"/>
                          </a:solidFill>
                          <a:latin typeface="DejaVu Sans"/>
                        </a:rPr>
                        <a:t>Model</a:t>
                      </a:r>
                    </a:p>
                  </a:txBody>
                  <a:tcPr marL="54864" marR="54864" marT="27432" marB="27432" anchor="t">
                    <a:solidFill>
                      <a:srgbClr val="1F4E79"/>
                    </a:solidFill>
                  </a:tcPr>
                </a:tc>
                <a:tc>
                  <a:txBody>
                    <a:bodyPr wrap="square"/>
                    <a:lstStyle/>
                    <a:p>
                      <a:r>
                        <a:rPr sz="1100" b="1">
                          <a:solidFill>
                            <a:srgbClr val="FFFFFF"/>
                          </a:solidFill>
                          <a:latin typeface="DejaVu Sans"/>
                        </a:rPr>
                        <a:t>Task it answers</a:t>
                      </a:r>
                    </a:p>
                  </a:txBody>
                  <a:tcPr marL="54864" marR="54864" marT="27432" marB="27432" anchor="t">
                    <a:solidFill>
                      <a:srgbClr val="1F4E79"/>
                    </a:solidFill>
                  </a:tcPr>
                </a:tc>
                <a:tc>
                  <a:txBody>
                    <a:bodyPr wrap="square"/>
                    <a:lstStyle/>
                    <a:p>
                      <a:r>
                        <a:rPr sz="1100" b="1">
                          <a:solidFill>
                            <a:srgbClr val="FFFFFF"/>
                          </a:solidFill>
                          <a:latin typeface="DejaVu Sans"/>
                        </a:rPr>
                        <a:t>Honest holdout read</a:t>
                      </a:r>
                    </a:p>
                  </a:txBody>
                  <a:tcPr marL="54864" marR="54864" marT="27432" marB="27432" anchor="t">
                    <a:solidFill>
                      <a:srgbClr val="1F4E79"/>
                    </a:solidFill>
                  </a:tcPr>
                </a:tc>
              </a:tr>
              <a:tr h="716280">
                <a:tc>
                  <a:txBody>
                    <a:bodyPr wrap="square"/>
                    <a:lstStyle/>
                    <a:p>
                      <a:r>
                        <a:rPr sz="1100" b="0">
                          <a:solidFill>
                            <a:srgbClr val="1A1A1A"/>
                          </a:solidFill>
                          <a:latin typeface="DejaVu Sans"/>
                        </a:rPr>
                        <a:t>check-verdict, 4 heads</a:t>
                      </a:r>
                    </a:p>
                  </a:txBody>
                  <a:tcPr marL="54864" marR="54864" marT="27432" marB="27432" anchor="t">
                    <a:solidFill>
                      <a:srgbClr val="FFFFFF"/>
                    </a:solidFill>
                  </a:tcPr>
                </a:tc>
                <a:tc>
                  <a:txBody>
                    <a:bodyPr wrap="square"/>
                    <a:lstStyle/>
                    <a:p>
                      <a:r>
                        <a:rPr sz="1100" b="0">
                          <a:solidFill>
                            <a:srgbClr val="1A1A1A"/>
                          </a:solidFill>
                          <a:latin typeface="DejaVu Sans"/>
                        </a:rPr>
                        <a:t>did the check pass</a:t>
                      </a:r>
                    </a:p>
                  </a:txBody>
                  <a:tcPr marL="54864" marR="54864" marT="27432" marB="27432" anchor="t">
                    <a:solidFill>
                      <a:srgbClr val="FFFFFF"/>
                    </a:solidFill>
                  </a:tcPr>
                </a:tc>
                <a:tc>
                  <a:txBody>
                    <a:bodyPr wrap="square"/>
                    <a:lstStyle/>
                    <a:p>
                      <a:r>
                        <a:rPr sz="1100" b="0">
                          <a:solidFill>
                            <a:srgbClr val="1A1A1A"/>
                          </a:solidFill>
                          <a:latin typeface="DejaVu Sans"/>
                        </a:rPr>
                        <a:t>31 to 61 frames per check, balanced accuracy 0.67 to 0.92. Three of four cards say generalizes: false; a logistic regression on the robot's own overlay beats the fold2 head, 0.88 to 0.67</a:t>
                      </a:r>
                    </a:p>
                  </a:txBody>
                  <a:tcPr marL="54864" marR="54864" marT="27432" marB="27432" anchor="t">
                    <a:solidFill>
                      <a:srgbClr val="FFFFFF"/>
                    </a:solidFill>
                  </a:tcPr>
                </a:tc>
              </a:tr>
              <a:tr h="716280">
                <a:tc>
                  <a:txBody>
                    <a:bodyPr wrap="square"/>
                    <a:lstStyle/>
                    <a:p>
                      <a:r>
                        <a:rPr sz="1100" b="0">
                          <a:solidFill>
                            <a:srgbClr val="1A1A1A"/>
                          </a:solidFill>
                          <a:latin typeface="DejaVu Sans"/>
                        </a:rPr>
                        <a:t>fold-class</a:t>
                      </a:r>
                    </a:p>
                  </a:txBody>
                  <a:tcPr marL="54864" marR="54864" marT="27432" marB="27432" anchor="t">
                    <a:solidFill>
                      <a:srgbClr val="EEF3F9"/>
                    </a:solidFill>
                  </a:tcPr>
                </a:tc>
                <a:tc>
                  <a:txBody>
                    <a:bodyPr wrap="square"/>
                    <a:lstStyle/>
                    <a:p>
                      <a:r>
                        <a:rPr sz="1100" b="0">
                          <a:solidFill>
                            <a:srgbClr val="1A1A1A"/>
                          </a:solidFill>
                          <a:latin typeface="DejaVu Sans"/>
                        </a:rPr>
                        <a:t>empty / flat / half / quarter</a:t>
                      </a:r>
                    </a:p>
                  </a:txBody>
                  <a:tcPr marL="54864" marR="54864" marT="27432" marB="27432" anchor="t">
                    <a:solidFill>
                      <a:srgbClr val="EEF3F9"/>
                    </a:solidFill>
                  </a:tcPr>
                </a:tc>
                <a:tc>
                  <a:txBody>
                    <a:bodyPr wrap="square"/>
                    <a:lstStyle/>
                    <a:p>
                      <a:r>
                        <a:rPr sz="1100" b="0">
                          <a:solidFill>
                            <a:srgbClr val="1A1A1A"/>
                          </a:solidFill>
                          <a:latin typeface="DejaVu Sans"/>
                        </a:rPr>
                        <a:t>110 frames, balanced accuracy 0.99, but on weak labels. The card's own leakage probe fails, and holding out maus-quin drops quarter recall to 0.02 of 82 frames</a:t>
                      </a:r>
                    </a:p>
                  </a:txBody>
                  <a:tcPr marL="54864" marR="54864" marT="27432" marB="27432" anchor="t">
                    <a:solidFill>
                      <a:srgbClr val="EEF3F9"/>
                    </a:solidFill>
                  </a:tcPr>
                </a:tc>
              </a:tr>
              <a:tr h="716280">
                <a:tc>
                  <a:txBody>
                    <a:bodyPr wrap="square"/>
                    <a:lstStyle/>
                    <a:p>
                      <a:r>
                        <a:rPr sz="1100" b="0">
                          <a:solidFill>
                            <a:srgbClr val="1A1A1A"/>
                          </a:solidFill>
                          <a:latin typeface="DejaVu Sans"/>
                        </a:rPr>
                        <a:t>failure-reason</a:t>
                      </a:r>
                    </a:p>
                  </a:txBody>
                  <a:tcPr marL="54864" marR="54864" marT="27432" marB="27432" anchor="t">
                    <a:solidFill>
                      <a:srgbClr val="FFFFFF"/>
                    </a:solidFill>
                  </a:tcPr>
                </a:tc>
                <a:tc>
                  <a:txBody>
                    <a:bodyPr wrap="square"/>
                    <a:lstStyle/>
                    <a:p>
                      <a:r>
                        <a:rPr sz="1100" b="0">
                          <a:solidFill>
                            <a:srgbClr val="1A1A1A"/>
                          </a:solidFill>
                          <a:latin typeface="DejaVu Sans"/>
                        </a:rPr>
                        <a:t>why the fold failed</a:t>
                      </a:r>
                    </a:p>
                  </a:txBody>
                  <a:tcPr marL="54864" marR="54864" marT="27432" marB="27432" anchor="t">
                    <a:solidFill>
                      <a:srgbClr val="FFFFFF"/>
                    </a:solidFill>
                  </a:tcPr>
                </a:tc>
                <a:tc>
                  <a:txBody>
                    <a:bodyPr wrap="square"/>
                    <a:lstStyle/>
                    <a:p>
                      <a:r>
                        <a:rPr sz="1100" b="0">
                          <a:solidFill>
                            <a:srgbClr val="1A1A1A"/>
                          </a:solidFill>
                          <a:latin typeface="DejaVu Sans"/>
                        </a:rPr>
                        <a:t>one deployable head: spread too_small, 13 holdout frames. The fold2 heads are research only, where the trivial rule scores set-F1 1.00 against the 0.73 the card quotes</a:t>
                      </a:r>
                    </a:p>
                  </a:txBody>
                  <a:tcPr marL="54864" marR="54864" marT="27432" marB="27432" anchor="t">
                    <a:solidFill>
                      <a:srgbClr val="FFFFFF"/>
                    </a:solidFill>
                  </a:tcPr>
                </a:tc>
              </a:tr>
              <a:tr h="716280">
                <a:tc>
                  <a:txBody>
                    <a:bodyPr wrap="square"/>
                    <a:lstStyle/>
                    <a:p>
                      <a:r>
                        <a:rPr sz="1100" b="0">
                          <a:solidFill>
                            <a:srgbClr val="1A1A1A"/>
                          </a:solidFill>
                          <a:latin typeface="DejaVu Sans"/>
                        </a:rPr>
                        <a:t>frame-embedder</a:t>
                      </a:r>
                    </a:p>
                  </a:txBody>
                  <a:tcPr marL="54864" marR="54864" marT="27432" marB="27432" anchor="t">
                    <a:solidFill>
                      <a:srgbClr val="EEF3F9"/>
                    </a:solidFill>
                  </a:tcPr>
                </a:tc>
                <a:tc>
                  <a:txBody>
                    <a:bodyPr wrap="square"/>
                    <a:lstStyle/>
                    <a:p>
                      <a:r>
                        <a:rPr sz="1100" b="0">
                          <a:solidFill>
                            <a:srgbClr val="1A1A1A"/>
                          </a:solidFill>
                          <a:latin typeface="DejaVu Sans"/>
                        </a:rPr>
                        <a:t>an embedding per frame</a:t>
                      </a:r>
                    </a:p>
                  </a:txBody>
                  <a:tcPr marL="54864" marR="54864" marT="27432" marB="27432" anchor="t">
                    <a:solidFill>
                      <a:srgbClr val="EEF3F9"/>
                    </a:solidFill>
                  </a:tcPr>
                </a:tc>
                <a:tc>
                  <a:txBody>
                    <a:bodyPr wrap="square"/>
                    <a:lstStyle/>
                    <a:p>
                      <a:r>
                        <a:rPr sz="1100" b="0">
                          <a:solidFill>
                            <a:srgbClr val="1A1A1A"/>
                          </a:solidFill>
                          <a:latin typeface="DejaVu Sans"/>
                        </a:rPr>
                        <a:t>about 4 ms per frame on a desktop CPU; the Raspberry Pi figure is an unmeasured estimate, not a board reading</a:t>
                      </a:r>
                    </a:p>
                  </a:txBody>
                  <a:tcPr marL="54864" marR="54864" marT="27432" marB="27432" anchor="t">
                    <a:solidFill>
                      <a:srgbClr val="EEF3F9"/>
                    </a:solidFill>
                  </a:tcPr>
                </a:tc>
              </a:tr>
              <a:tr h="716280">
                <a:tc>
                  <a:txBody>
                    <a:bodyPr wrap="square"/>
                    <a:lstStyle/>
                    <a:p>
                      <a:r>
                        <a:rPr sz="1100" b="0">
                          <a:solidFill>
                            <a:srgbClr val="1A1A1A"/>
                          </a:solidFill>
                          <a:latin typeface="DejaVu Sans"/>
                        </a:rPr>
                        <a:t>fold-risk</a:t>
                      </a:r>
                    </a:p>
                  </a:txBody>
                  <a:tcPr marL="54864" marR="54864" marT="27432" marB="27432" anchor="t">
                    <a:solidFill>
                      <a:srgbClr val="FFFFFF"/>
                    </a:solidFill>
                  </a:tcPr>
                </a:tc>
                <a:tc>
                  <a:txBody>
                    <a:bodyPr wrap="square"/>
                    <a:lstStyle/>
                    <a:p>
                      <a:r>
                        <a:rPr sz="1100" b="0">
                          <a:solidFill>
                            <a:srgbClr val="1A1A1A"/>
                          </a:solidFill>
                          <a:latin typeface="DejaVu Sans"/>
                        </a:rPr>
                        <a:t>spread predicts fold failure</a:t>
                      </a:r>
                    </a:p>
                  </a:txBody>
                  <a:tcPr marL="54864" marR="54864" marT="27432" marB="27432" anchor="t">
                    <a:solidFill>
                      <a:srgbClr val="FFFFFF"/>
                    </a:solidFill>
                  </a:tcPr>
                </a:tc>
                <a:tc>
                  <a:txBody>
                    <a:bodyPr wrap="square"/>
                    <a:lstStyle/>
                    <a:p>
                      <a:r>
                        <a:rPr sz="1100" b="0">
                          <a:solidFill>
                            <a:srgbClr val="1A1A1A"/>
                          </a:solidFill>
                          <a:latin typeface="DejaVu Sans"/>
                        </a:rPr>
                        <a:t>balanced accuracy 0.29, worse than chance; the permutation test reports beats_null: false. Research only</a:t>
                      </a:r>
                    </a:p>
                  </a:txBody>
                  <a:tcPr marL="54864" marR="54864" marT="27432" marB="27432" anchor="t">
                    <a:solidFill>
                      <a:srgbClr val="FFFFFF"/>
                    </a:solidFill>
                  </a:tcPr>
                </a:tc>
              </a:tr>
            </a:tbl>
          </a:graphicData>
        </a:graphic>
      </p:graphicFrame>
      <p:sp>
        <p:nvSpPr>
          <p:cNvPr id="4" name="TextBox 3"/>
          <p:cNvSpPr txBox="1"/>
          <p:nvPr/>
        </p:nvSpPr>
        <p:spPr>
          <a:xfrm>
            <a:off x="548640" y="6327648"/>
            <a:ext cx="9601200" cy="365760"/>
          </a:xfrm>
          <a:prstGeom prst="rect">
            <a:avLst/>
          </a:prstGeom>
          <a:noFill/>
        </p:spPr>
        <p:txBody>
          <a:bodyPr wrap="square">
            <a:spAutoFit/>
          </a:bodyPr>
          <a:lstStyle/>
          <a:p>
            <a:r>
              <a:rPr sz="1000" b="0">
                <a:solidFill>
                  <a:srgbClr val="6B6B6B"/>
                </a:solidFill>
                <a:latin typeface="DejaVu Sans"/>
              </a:rPr>
              <a:t>Labels are robot verdicts, not ground truth</a:t>
            </a:r>
          </a:p>
        </p:txBody>
      </p:sp>
      <p:sp>
        <p:nvSpPr>
          <p:cNvPr id="5" name="TextBox 4"/>
          <p:cNvSpPr txBox="1"/>
          <p:nvPr/>
        </p:nvSpPr>
        <p:spPr>
          <a:xfrm>
            <a:off x="11247120" y="6327648"/>
            <a:ext cx="548640" cy="365760"/>
          </a:xfrm>
          <a:prstGeom prst="rect">
            <a:avLst/>
          </a:prstGeom>
          <a:noFill/>
        </p:spPr>
        <p:txBody>
          <a:bodyPr wrap="square">
            <a:spAutoFit/>
          </a:bodyPr>
          <a:lstStyle/>
          <a:p>
            <a:pPr algn="r"/>
            <a:r>
              <a:rPr sz="1000" b="0">
                <a:solidFill>
                  <a:srgbClr val="6B6B6B"/>
                </a:solidFill>
                <a:latin typeface="DejaVu San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64240" cy="822960"/>
          </a:xfrm>
          <a:prstGeom prst="rect">
            <a:avLst/>
          </a:prstGeom>
          <a:noFill/>
        </p:spPr>
        <p:txBody>
          <a:bodyPr wrap="square">
            <a:spAutoFit/>
          </a:bodyPr>
          <a:lstStyle/>
          <a:p>
            <a:pPr algn="l"/>
            <a:r>
              <a:rPr sz="3000" b="1">
                <a:solidFill>
                  <a:srgbClr val="1A1A1A"/>
                </a:solidFill>
                <a:latin typeface="DejaVu Sans"/>
              </a:rPr>
              <a:t>Cross-robot reality check</a:t>
            </a:r>
          </a:p>
        </p:txBody>
      </p:sp>
      <p:pic>
        <p:nvPicPr>
          <p:cNvPr id="3" name="Picture 2" descr="check-verdict-robots.png"/>
          <p:cNvPicPr>
            <a:picLocks noChangeAspect="1"/>
          </p:cNvPicPr>
          <p:nvPr/>
        </p:nvPicPr>
        <p:blipFill>
          <a:blip r:embed="rId2"/>
          <a:stretch>
            <a:fillRect/>
          </a:stretch>
        </p:blipFill>
        <p:spPr>
          <a:xfrm>
            <a:off x="457200" y="1417320"/>
            <a:ext cx="7589520" cy="1897380"/>
          </a:xfrm>
          <a:prstGeom prst="rect">
            <a:avLst/>
          </a:prstGeom>
        </p:spPr>
      </p:pic>
      <p:pic>
        <p:nvPicPr>
          <p:cNvPr id="4" name="Picture 3" descr="pixel-mask-example.png"/>
          <p:cNvPicPr>
            <a:picLocks noChangeAspect="1"/>
          </p:cNvPicPr>
          <p:nvPr/>
        </p:nvPicPr>
        <p:blipFill>
          <a:blip r:embed="rId3"/>
          <a:stretch>
            <a:fillRect/>
          </a:stretch>
        </p:blipFill>
        <p:spPr>
          <a:xfrm>
            <a:off x="8321040" y="1417320"/>
            <a:ext cx="3291840" cy="1963881"/>
          </a:xfrm>
          <a:prstGeom prst="rect">
            <a:avLst/>
          </a:prstGeom>
        </p:spPr>
      </p:pic>
      <p:sp>
        <p:nvSpPr>
          <p:cNvPr id="5" name="TextBox 4"/>
          <p:cNvSpPr txBox="1"/>
          <p:nvPr/>
        </p:nvSpPr>
        <p:spPr>
          <a:xfrm>
            <a:off x="548640" y="6327648"/>
            <a:ext cx="9601200" cy="365760"/>
          </a:xfrm>
          <a:prstGeom prst="rect">
            <a:avLst/>
          </a:prstGeom>
          <a:noFill/>
        </p:spPr>
        <p:txBody>
          <a:bodyPr wrap="square">
            <a:spAutoFit/>
          </a:bodyPr>
          <a:lstStyle/>
          <a:p>
            <a:r>
              <a:rPr sz="1000" b="0">
                <a:solidFill>
                  <a:srgbClr val="6B6B6B"/>
                </a:solidFill>
                <a:latin typeface="DejaVu Sans"/>
              </a:rPr>
              <a:t>Holdout vs a robot held out entirely</a:t>
            </a:r>
          </a:p>
        </p:txBody>
      </p:sp>
      <p:sp>
        <p:nvSpPr>
          <p:cNvPr id="6" name="TextBox 5"/>
          <p:cNvSpPr txBox="1"/>
          <p:nvPr/>
        </p:nvSpPr>
        <p:spPr>
          <a:xfrm>
            <a:off x="11247120" y="6327648"/>
            <a:ext cx="548640" cy="365760"/>
          </a:xfrm>
          <a:prstGeom prst="rect">
            <a:avLst/>
          </a:prstGeom>
          <a:noFill/>
        </p:spPr>
        <p:txBody>
          <a:bodyPr wrap="square">
            <a:spAutoFit/>
          </a:bodyPr>
          <a:lstStyle/>
          <a:p>
            <a:pPr algn="r"/>
            <a:r>
              <a:rPr sz="1000" b="0">
                <a:solidFill>
                  <a:srgbClr val="6B6B6B"/>
                </a:solidFill>
                <a:latin typeface="DejaVu San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64240" cy="822960"/>
          </a:xfrm>
          <a:prstGeom prst="rect">
            <a:avLst/>
          </a:prstGeom>
          <a:noFill/>
        </p:spPr>
        <p:txBody>
          <a:bodyPr wrap="square">
            <a:spAutoFit/>
          </a:bodyPr>
          <a:lstStyle/>
          <a:p>
            <a:pPr algn="l"/>
            <a:r>
              <a:rPr sz="3000" b="1">
                <a:solidFill>
                  <a:srgbClr val="1A1A1A"/>
                </a:solidFill>
                <a:latin typeface="DejaVu Sans"/>
              </a:rPr>
              <a:t>Human labels, kept private</a:t>
            </a:r>
          </a:p>
        </p:txBody>
      </p:sp>
      <p:sp>
        <p:nvSpPr>
          <p:cNvPr id="3" name="TextBox 2"/>
          <p:cNvSpPr txBox="1"/>
          <p:nvPr/>
        </p:nvSpPr>
        <p:spPr>
          <a:xfrm>
            <a:off x="640080" y="1234440"/>
            <a:ext cx="10972800" cy="4754880"/>
          </a:xfrm>
          <a:prstGeom prst="rect">
            <a:avLst/>
          </a:prstGeom>
          <a:noFill/>
        </p:spPr>
        <p:txBody>
          <a:bodyPr wrap="square">
            <a:spAutoFit/>
          </a:bodyPr>
          <a:lstStyle/>
          <a:p>
            <a:pPr>
              <a:lnSpc>
                <a:spcPct val="100000"/>
              </a:lnSpc>
              <a:spcAft>
                <a:spcPts val="1000"/>
              </a:spcAft>
            </a:pPr>
            <a:r>
              <a:rPr sz="1500" b="0">
                <a:solidFill>
                  <a:srgbClr val="1A1A1A"/>
                </a:solidFill>
                <a:latin typeface="DejaVu Sans"/>
              </a:rPr>
              <a:t>Local Label Studio 1.23.2, one app per annotator; no run data, image or label leaves the machine or enters the public repository</a:t>
            </a:r>
          </a:p>
          <a:p>
            <a:pPr>
              <a:lnSpc>
                <a:spcPct val="100000"/>
              </a:lnSpc>
              <a:spcAft>
                <a:spcPts val="1000"/>
              </a:spcAft>
            </a:pPr>
            <a:r>
              <a:rPr sz="1500" b="0">
                <a:solidFill>
                  <a:srgbClr val="1A1A1A"/>
                </a:solidFill>
                <a:latin typeface="DejaVu Sans"/>
              </a:rPr>
              <a:t>Whole runs are split into set 1 (owner) and set 2 (collaborator), so no frame is labelled twice</a:t>
            </a:r>
          </a:p>
          <a:p>
            <a:pPr>
              <a:lnSpc>
                <a:spcPct val="100000"/>
              </a:lnSpc>
              <a:spcAft>
                <a:spcPts val="1000"/>
              </a:spcAft>
            </a:pPr>
            <a:r>
              <a:rPr sz="1500" b="0">
                <a:solidFill>
                  <a:srgbClr val="1A1A1A"/>
                </a:solidFill>
                <a:latin typeface="DejaVu Sans"/>
              </a:rPr>
              <a:t>Two projects per set: visual phase labels (six states) and material/hole masks</a:t>
            </a:r>
          </a:p>
          <a:p>
            <a:pPr>
              <a:lnSpc>
                <a:spcPct val="100000"/>
              </a:lnSpc>
              <a:spcAft>
                <a:spcPts val="1000"/>
              </a:spcAft>
            </a:pPr>
            <a:r>
              <a:rPr sz="1500" b="0">
                <a:solidFill>
                  <a:srgbClr val="1A1A1A"/>
                </a:solidFill>
                <a:latin typeface="DejaVu Sans"/>
              </a:rPr>
              <a:t>Set 2 today: 186 phase labels submitted, 113 mask submissions; set 1 is prepared but was never opened</a:t>
            </a:r>
          </a:p>
          <a:p>
            <a:pPr>
              <a:lnSpc>
                <a:spcPct val="100000"/>
              </a:lnSpc>
              <a:spcAft>
                <a:spcPts val="1000"/>
              </a:spcAft>
            </a:pPr>
            <a:r>
              <a:rPr sz="1500" b="0">
                <a:solidFill>
                  <a:srgbClr val="1A1A1A"/>
                </a:solidFill>
                <a:latin typeface="DejaVu Sans"/>
              </a:rPr>
              <a:t>Pixel-mask prefill adds 301 editable suggestions on set 2, applied only to untouched tasks</a:t>
            </a:r>
          </a:p>
        </p:txBody>
      </p:sp>
      <p:sp>
        <p:nvSpPr>
          <p:cNvPr id="4" name="TextBox 3"/>
          <p:cNvSpPr txBox="1"/>
          <p:nvPr/>
        </p:nvSpPr>
        <p:spPr>
          <a:xfrm>
            <a:off x="548640" y="6327648"/>
            <a:ext cx="9601200" cy="365760"/>
          </a:xfrm>
          <a:prstGeom prst="rect">
            <a:avLst/>
          </a:prstGeom>
          <a:noFill/>
        </p:spPr>
        <p:txBody>
          <a:bodyPr wrap="square">
            <a:spAutoFit/>
          </a:bodyPr>
          <a:lstStyle/>
          <a:p>
            <a:r>
              <a:rPr sz="1000" b="0">
                <a:solidFill>
                  <a:srgbClr val="6B6B6B"/>
                </a:solidFill>
                <a:latin typeface="DejaVu Sans"/>
              </a:rPr>
              <a:t>Source: status.md (branch), labeling docs</a:t>
            </a:r>
          </a:p>
        </p:txBody>
      </p:sp>
      <p:sp>
        <p:nvSpPr>
          <p:cNvPr id="5" name="TextBox 4"/>
          <p:cNvSpPr txBox="1"/>
          <p:nvPr/>
        </p:nvSpPr>
        <p:spPr>
          <a:xfrm>
            <a:off x="11247120" y="6327648"/>
            <a:ext cx="548640" cy="365760"/>
          </a:xfrm>
          <a:prstGeom prst="rect">
            <a:avLst/>
          </a:prstGeom>
          <a:noFill/>
        </p:spPr>
        <p:txBody>
          <a:bodyPr wrap="square">
            <a:spAutoFit/>
          </a:bodyPr>
          <a:lstStyle/>
          <a:p>
            <a:pPr algn="r"/>
            <a:r>
              <a:rPr sz="1000" b="0">
                <a:solidFill>
                  <a:srgbClr val="6B6B6B"/>
                </a:solidFill>
                <a:latin typeface="DejaVu San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64240" cy="822960"/>
          </a:xfrm>
          <a:prstGeom prst="rect">
            <a:avLst/>
          </a:prstGeom>
          <a:noFill/>
        </p:spPr>
        <p:txBody>
          <a:bodyPr wrap="square">
            <a:spAutoFit/>
          </a:bodyPr>
          <a:lstStyle/>
          <a:p>
            <a:pPr algn="l"/>
            <a:r>
              <a:rPr sz="3000" b="1">
                <a:solidFill>
                  <a:srgbClr val="1A1A1A"/>
                </a:solidFill>
                <a:latin typeface="DejaVu Sans"/>
              </a:rPr>
              <a:t>Brief coverage: three tasks, two levels</a:t>
            </a:r>
          </a:p>
        </p:txBody>
      </p:sp>
      <p:graphicFrame>
        <p:nvGraphicFramePr>
          <p:cNvPr id="3" name="Table 2"/>
          <p:cNvGraphicFramePr>
            <a:graphicFrameLocks noGrp="1"/>
          </p:cNvGraphicFramePr>
          <p:nvPr/>
        </p:nvGraphicFramePr>
        <p:xfrm>
          <a:off x="411480" y="1234440"/>
          <a:ext cx="11384280" cy="4297680"/>
        </p:xfrm>
        <a:graphic>
          <a:graphicData uri="http://schemas.openxmlformats.org/drawingml/2006/table">
            <a:tbl>
              <a:tblPr firstRow="1" bandRow="1">
                <a:tableStyleId>{5C22544A-7EE6-4342-B048-85BDC9FD1C3A}</a:tableStyleId>
              </a:tblPr>
              <a:tblGrid>
                <a:gridCol w="2651760"/>
                <a:gridCol w="3200400"/>
                <a:gridCol w="5532120"/>
              </a:tblGrid>
              <a:tr h="716280">
                <a:tc>
                  <a:txBody>
                    <a:bodyPr wrap="square"/>
                    <a:lstStyle/>
                    <a:p>
                      <a:r>
                        <a:rPr sz="1100" b="1">
                          <a:solidFill>
                            <a:srgbClr val="FFFFFF"/>
                          </a:solidFill>
                          <a:latin typeface="DejaVu Sans"/>
                        </a:rPr>
                        <a:t>Brief item</a:t>
                      </a:r>
                    </a:p>
                  </a:txBody>
                  <a:tcPr marL="54864" marR="54864" marT="27432" marB="27432" anchor="t">
                    <a:solidFill>
                      <a:srgbClr val="1F4E79"/>
                    </a:solidFill>
                  </a:tcPr>
                </a:tc>
                <a:tc>
                  <a:txBody>
                    <a:bodyPr wrap="square"/>
                    <a:lstStyle/>
                    <a:p>
                      <a:r>
                        <a:rPr sz="1100" b="1">
                          <a:solidFill>
                            <a:srgbClr val="FFFFFF"/>
                          </a:solidFill>
                          <a:latin typeface="DejaVu Sans"/>
                        </a:rPr>
                        <a:t>Asked</a:t>
                      </a:r>
                    </a:p>
                  </a:txBody>
                  <a:tcPr marL="54864" marR="54864" marT="27432" marB="27432" anchor="t">
                    <a:solidFill>
                      <a:srgbClr val="1F4E79"/>
                    </a:solidFill>
                  </a:tcPr>
                </a:tc>
                <a:tc>
                  <a:txBody>
                    <a:bodyPr wrap="square"/>
                    <a:lstStyle/>
                    <a:p>
                      <a:r>
                        <a:rPr sz="1100" b="1">
                          <a:solidFill>
                            <a:srgbClr val="FFFFFF"/>
                          </a:solidFill>
                          <a:latin typeface="DejaVu Sans"/>
                        </a:rPr>
                        <a:t>Verdict</a:t>
                      </a:r>
                    </a:p>
                  </a:txBody>
                  <a:tcPr marL="54864" marR="54864" marT="27432" marB="27432" anchor="t">
                    <a:solidFill>
                      <a:srgbClr val="1F4E79"/>
                    </a:solidFill>
                  </a:tcPr>
                </a:tc>
              </a:tr>
              <a:tr h="716280">
                <a:tc>
                  <a:txBody>
                    <a:bodyPr wrap="square"/>
                    <a:lstStyle/>
                    <a:p>
                      <a:r>
                        <a:rPr sz="1100" b="0">
                          <a:solidFill>
                            <a:srgbClr val="1A1A1A"/>
                          </a:solidFill>
                          <a:latin typeface="DejaVu Sans"/>
                        </a:rPr>
                        <a:t>Task 1, spread quality</a:t>
                      </a:r>
                    </a:p>
                  </a:txBody>
                  <a:tcPr marL="54864" marR="54864" marT="27432" marB="27432" anchor="t">
                    <a:solidFill>
                      <a:srgbClr val="FFFFFF"/>
                    </a:solidFill>
                  </a:tcPr>
                </a:tc>
                <a:tc>
                  <a:txBody>
                    <a:bodyPr wrap="square"/>
                    <a:lstStyle/>
                    <a:p>
                      <a:r>
                        <a:rPr sz="1100" b="0">
                          <a:solidFill>
                            <a:srgbClr val="1A1A1A"/>
                          </a:solidFill>
                          <a:latin typeface="DejaVu Sans"/>
                        </a:rPr>
                        <a:t>mask, diameter, quality score</a:t>
                      </a:r>
                    </a:p>
                  </a:txBody>
                  <a:tcPr marL="54864" marR="54864" marT="27432" marB="27432" anchor="t">
                    <a:solidFill>
                      <a:srgbClr val="FFFFFF"/>
                    </a:solidFill>
                  </a:tcPr>
                </a:tc>
                <a:tc>
                  <a:txBody>
                    <a:bodyPr wrap="square"/>
                    <a:lstStyle/>
                    <a:p>
                      <a:r>
                        <a:rPr sz="1100" b="0">
                          <a:solidFill>
                            <a:srgbClr val="1A1A1A"/>
                          </a:solidFill>
                          <a:latin typeface="DejaVu Sans"/>
                        </a:rPr>
                        <a:t>partial: per-run vision metrics over 138 runs (diameter, centre offset, circularity, holes, uncovered fraction) and a classical pixel-mask suggester; no spread model</a:t>
                      </a:r>
                    </a:p>
                  </a:txBody>
                  <a:tcPr marL="54864" marR="54864" marT="27432" marB="27432" anchor="t">
                    <a:solidFill>
                      <a:srgbClr val="FFFFFF"/>
                    </a:solidFill>
                  </a:tcPr>
                </a:tc>
              </a:tr>
              <a:tr h="716280">
                <a:tc>
                  <a:txBody>
                    <a:bodyPr wrap="square"/>
                    <a:lstStyle/>
                    <a:p>
                      <a:r>
                        <a:rPr sz="1100" b="0">
                          <a:solidFill>
                            <a:srgbClr val="1A1A1A"/>
                          </a:solidFill>
                          <a:latin typeface="DejaVu Sans"/>
                        </a:rPr>
                        <a:t>Task 2, position and orientation</a:t>
                      </a:r>
                    </a:p>
                  </a:txBody>
                  <a:tcPr marL="54864" marR="54864" marT="27432" marB="27432" anchor="t">
                    <a:solidFill>
                      <a:srgbClr val="EEF3F9"/>
                    </a:solidFill>
                  </a:tcPr>
                </a:tc>
                <a:tc>
                  <a:txBody>
                    <a:bodyPr wrap="square"/>
                    <a:lstStyle/>
                    <a:p>
                      <a:r>
                        <a:rPr sz="1100" b="0">
                          <a:solidFill>
                            <a:srgbClr val="1A1A1A"/>
                          </a:solidFill>
                          <a:latin typeface="DejaVu Sans"/>
                        </a:rPr>
                        <a:t>centre (x, y) and angle for the spatula</a:t>
                      </a:r>
                    </a:p>
                  </a:txBody>
                  <a:tcPr marL="54864" marR="54864" marT="27432" marB="27432" anchor="t">
                    <a:solidFill>
                      <a:srgbClr val="EEF3F9"/>
                    </a:solidFill>
                  </a:tcPr>
                </a:tc>
                <a:tc>
                  <a:txBody>
                    <a:bodyPr wrap="square"/>
                    <a:lstStyle/>
                    <a:p>
                      <a:r>
                        <a:rPr sz="1100" b="0">
                          <a:solidFill>
                            <a:srgbClr val="1A1A1A"/>
                          </a:solidFill>
                          <a:latin typeface="DejaVu Sans"/>
                        </a:rPr>
                        <a:t>not delivered: centre offset is a recorded metric; the fold geometry computes an edge angle but the straight-edge gate accepted 0 of the 854 measured frames</a:t>
                      </a:r>
                    </a:p>
                  </a:txBody>
                  <a:tcPr marL="54864" marR="54864" marT="27432" marB="27432" anchor="t">
                    <a:solidFill>
                      <a:srgbClr val="EEF3F9"/>
                    </a:solidFill>
                  </a:tcPr>
                </a:tc>
              </a:tr>
              <a:tr h="716280">
                <a:tc>
                  <a:txBody>
                    <a:bodyPr wrap="square"/>
                    <a:lstStyle/>
                    <a:p>
                      <a:r>
                        <a:rPr sz="1100" b="0">
                          <a:solidFill>
                            <a:srgbClr val="1A1A1A"/>
                          </a:solidFill>
                          <a:latin typeface="DejaVu Sans"/>
                        </a:rPr>
                        <a:t>Task 3, fold detection</a:t>
                      </a:r>
                    </a:p>
                  </a:txBody>
                  <a:tcPr marL="54864" marR="54864" marT="27432" marB="27432" anchor="t">
                    <a:solidFill>
                      <a:srgbClr val="FFFFFF"/>
                    </a:solidFill>
                  </a:tcPr>
                </a:tc>
                <a:tc>
                  <a:txBody>
                    <a:bodyPr wrap="square"/>
                    <a:lstStyle/>
                    <a:p>
                      <a:r>
                        <a:rPr sz="1100" b="0">
                          <a:solidFill>
                            <a:srgbClr val="1A1A1A"/>
                          </a:solidFill>
                          <a:latin typeface="DejaVu Sans"/>
                        </a:rPr>
                        <a:t>flat / half / quarter / triangle plus edge angle</a:t>
                      </a:r>
                    </a:p>
                  </a:txBody>
                  <a:tcPr marL="54864" marR="54864" marT="27432" marB="27432" anchor="t">
                    <a:solidFill>
                      <a:srgbClr val="FFFFFF"/>
                    </a:solidFill>
                  </a:tcPr>
                </a:tc>
                <a:tc>
                  <a:txBody>
                    <a:bodyPr wrap="square"/>
                    <a:lstStyle/>
                    <a:p>
                      <a:r>
                        <a:rPr sz="1100" b="0">
                          <a:solidFill>
                            <a:srgbClr val="1A1A1A"/>
                          </a:solidFill>
                          <a:latin typeface="DejaVu Sans"/>
                        </a:rPr>
                        <a:t>partial: fold-class ONNX, four classes, on weak labels; the triangle fold is unsupported by design</a:t>
                      </a:r>
                    </a:p>
                  </a:txBody>
                  <a:tcPr marL="54864" marR="54864" marT="27432" marB="27432" anchor="t">
                    <a:solidFill>
                      <a:srgbClr val="FFFFFF"/>
                    </a:solidFill>
                  </a:tcPr>
                </a:tc>
              </a:tr>
              <a:tr h="716280">
                <a:tc>
                  <a:txBody>
                    <a:bodyPr wrap="square"/>
                    <a:lstStyle/>
                    <a:p>
                      <a:r>
                        <a:rPr sz="1100" b="0">
                          <a:solidFill>
                            <a:srgbClr val="1A1A1A"/>
                          </a:solidFill>
                          <a:latin typeface="DejaVu Sans"/>
                        </a:rPr>
                        <a:t>Level 1, works on Maus data</a:t>
                      </a:r>
                    </a:p>
                  </a:txBody>
                  <a:tcPr marL="54864" marR="54864" marT="27432" marB="27432" anchor="t">
                    <a:solidFill>
                      <a:srgbClr val="EEF3F9"/>
                    </a:solidFill>
                  </a:tcPr>
                </a:tc>
                <a:tc>
                  <a:txBody>
                    <a:bodyPr wrap="square"/>
                    <a:lstStyle/>
                    <a:p>
                      <a:r>
                        <a:rPr sz="1100" b="0">
                          <a:solidFill>
                            <a:srgbClr val="1A1A1A"/>
                          </a:solidFill>
                          <a:latin typeface="DejaVu Sans"/>
                        </a:rPr>
                        <a:t>model scored against the robot verdicts</a:t>
                      </a:r>
                    </a:p>
                  </a:txBody>
                  <a:tcPr marL="54864" marR="54864" marT="27432" marB="27432" anchor="t">
                    <a:solidFill>
                      <a:srgbClr val="EEF3F9"/>
                    </a:solidFill>
                  </a:tcPr>
                </a:tc>
                <a:tc>
                  <a:txBody>
                    <a:bodyPr wrap="square"/>
                    <a:lstStyle/>
                    <a:p>
                      <a:r>
                        <a:rPr sz="1100" b="0">
                          <a:solidFill>
                            <a:srgbClr val="1A1A1A"/>
                          </a:solidFill>
                          <a:latin typeface="DejaVu Sans"/>
                        </a:rPr>
                        <a:t>partial: check-verdict heads with agreement metrics on holdouts of 31 to 61 frames; three of four cards do not generalize</a:t>
                      </a:r>
                    </a:p>
                  </a:txBody>
                  <a:tcPr marL="54864" marR="54864" marT="27432" marB="27432" anchor="t">
                    <a:solidFill>
                      <a:srgbClr val="EEF3F9"/>
                    </a:solidFill>
                  </a:tcPr>
                </a:tc>
              </a:tr>
              <a:tr h="716280">
                <a:tc>
                  <a:txBody>
                    <a:bodyPr wrap="square"/>
                    <a:lstStyle/>
                    <a:p>
                      <a:r>
                        <a:rPr sz="1100" b="0">
                          <a:solidFill>
                            <a:srgbClr val="1A1A1A"/>
                          </a:solidFill>
                          <a:latin typeface="DejaVu Sans"/>
                        </a:rPr>
                        <a:t>Level 2, real time on a Pi 5</a:t>
                      </a:r>
                    </a:p>
                  </a:txBody>
                  <a:tcPr marL="54864" marR="54864" marT="27432" marB="27432" anchor="t">
                    <a:solidFill>
                      <a:srgbClr val="FFFFFF"/>
                    </a:solidFill>
                  </a:tcPr>
                </a:tc>
                <a:tc>
                  <a:txBody>
                    <a:bodyPr wrap="square"/>
                    <a:lstStyle/>
                    <a:p>
                      <a:r>
                        <a:rPr sz="1100" b="0">
                          <a:solidFill>
                            <a:srgbClr val="1A1A1A"/>
                          </a:solidFill>
                          <a:latin typeface="DejaVu Sans"/>
                        </a:rPr>
                        <a:t>under about 300 ms per frame</a:t>
                      </a:r>
                    </a:p>
                  </a:txBody>
                  <a:tcPr marL="54864" marR="54864" marT="27432" marB="27432" anchor="t">
                    <a:solidFill>
                      <a:srgbClr val="FFFFFF"/>
                    </a:solidFill>
                  </a:tcPr>
                </a:tc>
                <a:tc>
                  <a:txBody>
                    <a:bodyPr wrap="square"/>
                    <a:lstStyle/>
                    <a:p>
                      <a:r>
                        <a:rPr sz="1100" b="0">
                          <a:solidFill>
                            <a:srgbClr val="1A1A1A"/>
                          </a:solidFill>
                          <a:latin typeface="DejaVu Sans"/>
                        </a:rPr>
                        <a:t>not demonstrated: 4 ms per frame on a desktop CPU; the Pi figure is an unmeasured estimate and the arm64 environment lives in draft PR #162</a:t>
                      </a:r>
                    </a:p>
                  </a:txBody>
                  <a:tcPr marL="54864" marR="54864" marT="27432" marB="27432" anchor="t">
                    <a:solidFill>
                      <a:srgbClr val="FFFFFF"/>
                    </a:solidFill>
                  </a:tcPr>
                </a:tc>
              </a:tr>
            </a:tbl>
          </a:graphicData>
        </a:graphic>
      </p:graphicFrame>
      <p:sp>
        <p:nvSpPr>
          <p:cNvPr id="4" name="TextBox 3"/>
          <p:cNvSpPr txBox="1"/>
          <p:nvPr/>
        </p:nvSpPr>
        <p:spPr>
          <a:xfrm>
            <a:off x="548640" y="6327648"/>
            <a:ext cx="9601200" cy="365760"/>
          </a:xfrm>
          <a:prstGeom prst="rect">
            <a:avLst/>
          </a:prstGeom>
          <a:noFill/>
        </p:spPr>
        <p:txBody>
          <a:bodyPr wrap="square">
            <a:spAutoFit/>
          </a:bodyPr>
          <a:lstStyle/>
          <a:p>
            <a:r>
              <a:rPr sz="1000" b="0">
                <a:solidFill>
                  <a:srgbClr val="6B6B6B"/>
                </a:solidFill>
                <a:latin typeface="DejaVu Sans"/>
              </a:rPr>
              <a:t>Source: status.md (branch), audit report</a:t>
            </a:r>
          </a:p>
        </p:txBody>
      </p:sp>
      <p:sp>
        <p:nvSpPr>
          <p:cNvPr id="5" name="TextBox 4"/>
          <p:cNvSpPr txBox="1"/>
          <p:nvPr/>
        </p:nvSpPr>
        <p:spPr>
          <a:xfrm>
            <a:off x="11247120" y="6327648"/>
            <a:ext cx="548640" cy="365760"/>
          </a:xfrm>
          <a:prstGeom prst="rect">
            <a:avLst/>
          </a:prstGeom>
          <a:noFill/>
        </p:spPr>
        <p:txBody>
          <a:bodyPr wrap="square">
            <a:spAutoFit/>
          </a:bodyPr>
          <a:lstStyle/>
          <a:p>
            <a:pPr algn="r"/>
            <a:r>
              <a:rPr sz="1000" b="0">
                <a:solidFill>
                  <a:srgbClr val="6B6B6B"/>
                </a:solidFill>
                <a:latin typeface="DejaVu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64240" cy="822960"/>
          </a:xfrm>
          <a:prstGeom prst="rect">
            <a:avLst/>
          </a:prstGeom>
          <a:noFill/>
        </p:spPr>
        <p:txBody>
          <a:bodyPr wrap="square">
            <a:spAutoFit/>
          </a:bodyPr>
          <a:lstStyle/>
          <a:p>
            <a:pPr algn="l"/>
            <a:r>
              <a:rPr sz="3000" b="1">
                <a:solidFill>
                  <a:srgbClr val="1A1A1A"/>
                </a:solidFill>
                <a:latin typeface="DejaVu Sans"/>
              </a:rPr>
              <a:t>What does not work yet</a:t>
            </a:r>
          </a:p>
        </p:txBody>
      </p:sp>
      <p:sp>
        <p:nvSpPr>
          <p:cNvPr id="3" name="TextBox 2"/>
          <p:cNvSpPr txBox="1"/>
          <p:nvPr/>
        </p:nvSpPr>
        <p:spPr>
          <a:xfrm>
            <a:off x="640080" y="1234440"/>
            <a:ext cx="10972800" cy="4754880"/>
          </a:xfrm>
          <a:prstGeom prst="rect">
            <a:avLst/>
          </a:prstGeom>
          <a:noFill/>
        </p:spPr>
        <p:txBody>
          <a:bodyPr wrap="square">
            <a:spAutoFit/>
          </a:bodyPr>
          <a:lstStyle/>
          <a:p>
            <a:pPr>
              <a:lnSpc>
                <a:spcPct val="100000"/>
              </a:lnSpc>
              <a:spcAft>
                <a:spcPts val="1000"/>
              </a:spcAft>
            </a:pPr>
            <a:r>
              <a:rPr sz="1500" b="0">
                <a:solidFill>
                  <a:srgbClr val="1A1A1A"/>
                </a:solidFill>
                <a:latin typeface="DejaVu Sans"/>
              </a:rPr>
              <a:t>The end-to-end deliverable is missing: no single entry point turns one frame into all the decisions (issue #95 is still open)</a:t>
            </a:r>
          </a:p>
          <a:p>
            <a:pPr>
              <a:lnSpc>
                <a:spcPct val="100000"/>
              </a:lnSpc>
              <a:spcAft>
                <a:spcPts val="1000"/>
              </a:spcAft>
            </a:pPr>
            <a:r>
              <a:rPr sz="1500" b="0">
                <a:solidFill>
                  <a:srgbClr val="1A1A1A"/>
                </a:solidFill>
                <a:latin typeface="DejaVu Sans"/>
              </a:rPr>
              <a:t>The newest work is not on main: five draft pull requests (#137, #156, #158, #160, #162), 45 commits and 63 files ahead; the fold-segmentation PR has been open since Saturday and calls itself not fit for use</a:t>
            </a:r>
          </a:p>
          <a:p>
            <a:pPr>
              <a:lnSpc>
                <a:spcPct val="100000"/>
              </a:lnSpc>
              <a:spcAft>
                <a:spcPts val="1000"/>
              </a:spcAft>
            </a:pPr>
            <a:r>
              <a:rPr sz="1500" b="0">
                <a:solidFill>
                  <a:srgbClr val="1A1A1A"/>
                </a:solidFill>
                <a:latin typeface="DejaVu Sans"/>
              </a:rPr>
              <a:t>The models are weak: three of four check heads do not generalize, fold-risk is worse than chance, and no model has been trained on human labels</a:t>
            </a:r>
          </a:p>
          <a:p>
            <a:pPr>
              <a:lnSpc>
                <a:spcPct val="100000"/>
              </a:lnSpc>
              <a:spcAft>
                <a:spcPts val="1000"/>
              </a:spcAft>
            </a:pPr>
            <a:r>
              <a:rPr sz="1500" b="0">
                <a:solidFill>
                  <a:srgbClr val="1A1A1A"/>
                </a:solidFill>
                <a:latin typeface="DejaVu Sans"/>
              </a:rPr>
              <a:t>Coverage: vision measurements cover 138 of 828 runs, all in October, and 117 of the 148 failed runs have no check data at all</a:t>
            </a:r>
          </a:p>
          <a:p>
            <a:pPr>
              <a:lnSpc>
                <a:spcPct val="100000"/>
              </a:lnSpc>
              <a:spcAft>
                <a:spcPts val="1000"/>
              </a:spcAft>
            </a:pPr>
            <a:r>
              <a:rPr sz="1500" b="0">
                <a:solidFill>
                  <a:srgbClr val="1A1A1A"/>
                </a:solidFill>
                <a:latin typeface="DejaVu Sans"/>
              </a:rPr>
              <a:t>The material-mask model does not exist; the deviation pipeline has only ever run on stand-in masks</a:t>
            </a:r>
          </a:p>
          <a:p>
            <a:pPr>
              <a:lnSpc>
                <a:spcPct val="100000"/>
              </a:lnSpc>
              <a:spcAft>
                <a:spcPts val="1000"/>
              </a:spcAft>
            </a:pPr>
            <a:r>
              <a:rPr sz="1500" b="0">
                <a:solidFill>
                  <a:srgbClr val="1A1A1A"/>
                </a:solidFill>
                <a:latin typeface="DejaVu Sans"/>
              </a:rPr>
              <a:t>A fresh clone reproduces the code and the offline tests, not the numbers: the machine data is private</a:t>
            </a:r>
          </a:p>
        </p:txBody>
      </p:sp>
      <p:sp>
        <p:nvSpPr>
          <p:cNvPr id="4" name="TextBox 3"/>
          <p:cNvSpPr txBox="1"/>
          <p:nvPr/>
        </p:nvSpPr>
        <p:spPr>
          <a:xfrm>
            <a:off x="548640" y="6327648"/>
            <a:ext cx="9601200" cy="365760"/>
          </a:xfrm>
          <a:prstGeom prst="rect">
            <a:avLst/>
          </a:prstGeom>
          <a:noFill/>
        </p:spPr>
        <p:txBody>
          <a:bodyPr wrap="square">
            <a:spAutoFit/>
          </a:bodyPr>
          <a:lstStyle/>
          <a:p>
            <a:r>
              <a:rPr sz="1000" b="0">
                <a:solidFill>
                  <a:srgbClr val="6B6B6B"/>
                </a:solidFill>
                <a:latin typeface="DejaVu Sans"/>
              </a:rPr>
              <a:t>Source: audit report, status.md</a:t>
            </a:r>
          </a:p>
        </p:txBody>
      </p:sp>
      <p:sp>
        <p:nvSpPr>
          <p:cNvPr id="5" name="TextBox 4"/>
          <p:cNvSpPr txBox="1"/>
          <p:nvPr/>
        </p:nvSpPr>
        <p:spPr>
          <a:xfrm>
            <a:off x="11247120" y="6327648"/>
            <a:ext cx="548640" cy="365760"/>
          </a:xfrm>
          <a:prstGeom prst="rect">
            <a:avLst/>
          </a:prstGeom>
          <a:noFill/>
        </p:spPr>
        <p:txBody>
          <a:bodyPr wrap="square">
            <a:spAutoFit/>
          </a:bodyPr>
          <a:lstStyle/>
          <a:p>
            <a:pPr algn="r"/>
            <a:r>
              <a:rPr sz="1000" b="0">
                <a:solidFill>
                  <a:srgbClr val="6B6B6B"/>
                </a:solidFill>
                <a:latin typeface="DejaVu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64240" cy="822960"/>
          </a:xfrm>
          <a:prstGeom prst="rect">
            <a:avLst/>
          </a:prstGeom>
          <a:noFill/>
        </p:spPr>
        <p:txBody>
          <a:bodyPr wrap="square">
            <a:spAutoFit/>
          </a:bodyPr>
          <a:lstStyle/>
          <a:p>
            <a:pPr algn="l"/>
            <a:r>
              <a:rPr sz="3000" b="1">
                <a:solidFill>
                  <a:srgbClr val="1A1A1A"/>
                </a:solidFill>
                <a:latin typeface="DejaVu Sans"/>
              </a:rPr>
              <a:t>What would change the answer</a:t>
            </a:r>
          </a:p>
        </p:txBody>
      </p:sp>
      <p:sp>
        <p:nvSpPr>
          <p:cNvPr id="3" name="TextBox 2"/>
          <p:cNvSpPr txBox="1"/>
          <p:nvPr/>
        </p:nvSpPr>
        <p:spPr>
          <a:xfrm>
            <a:off x="640080" y="1234440"/>
            <a:ext cx="10972800" cy="4754880"/>
          </a:xfrm>
          <a:prstGeom prst="rect">
            <a:avLst/>
          </a:prstGeom>
          <a:noFill/>
        </p:spPr>
        <p:txBody>
          <a:bodyPr wrap="square">
            <a:spAutoFit/>
          </a:bodyPr>
          <a:lstStyle/>
          <a:p>
            <a:pPr>
              <a:lnSpc>
                <a:spcPct val="100000"/>
              </a:lnSpc>
              <a:spcAft>
                <a:spcPts val="1000"/>
              </a:spcAft>
            </a:pPr>
            <a:r>
              <a:rPr sz="1500" b="0">
                <a:solidFill>
                  <a:srgbClr val="1A1A1A"/>
                </a:solidFill>
                <a:latin typeface="DejaVu Sans"/>
              </a:rPr>
              <a:t>More check records: 117 of the 148 failed runs have none, so why runs fail is unanswerable from this export for about 79 percent of them</a:t>
            </a:r>
          </a:p>
          <a:p>
            <a:pPr>
              <a:lnSpc>
                <a:spcPct val="100000"/>
              </a:lnSpc>
              <a:spcAft>
                <a:spcPts val="1000"/>
              </a:spcAft>
            </a:pPr>
            <a:r>
              <a:rPr sz="1500" b="0">
                <a:solidFill>
                  <a:srgbClr val="1A1A1A"/>
                </a:solidFill>
                <a:latin typeface="DejaVu Sans"/>
              </a:rPr>
              <a:t>More runs per robot, interleaved in time: about 140 to 150 would separate robot from era, which today coincide</a:t>
            </a:r>
          </a:p>
          <a:p>
            <a:pPr>
              <a:lnSpc>
                <a:spcPct val="100000"/>
              </a:lnSpc>
              <a:spcAft>
                <a:spcPts val="1000"/>
              </a:spcAft>
            </a:pPr>
            <a:r>
              <a:rPr sz="1500" b="0">
                <a:solidFill>
                  <a:srgbClr val="1A1A1A"/>
                </a:solidFill>
                <a:latin typeface="DejaVu Sans"/>
              </a:rPr>
              <a:t>A held-out evaluation on human labels: every current metric is agreement with the robot, not with reality</a:t>
            </a:r>
          </a:p>
          <a:p>
            <a:pPr>
              <a:lnSpc>
                <a:spcPct val="100000"/>
              </a:lnSpc>
              <a:spcAft>
                <a:spcPts val="1000"/>
              </a:spcAft>
            </a:pPr>
            <a:r>
              <a:rPr sz="1500" b="0">
                <a:solidFill>
                  <a:srgbClr val="1A1A1A"/>
                </a:solidFill>
                <a:latin typeface="DejaVu Sans"/>
              </a:rPr>
              <a:t>A reviewed mask export plus a material-mask model, so the deviation pipeline sees a real prediction against a real mask</a:t>
            </a:r>
          </a:p>
          <a:p>
            <a:pPr>
              <a:lnSpc>
                <a:spcPct val="100000"/>
              </a:lnSpc>
              <a:spcAft>
                <a:spcPts val="1000"/>
              </a:spcAft>
            </a:pPr>
            <a:r>
              <a:rPr sz="1500" b="0">
                <a:solidFill>
                  <a:srgbClr val="1A1A1A"/>
                </a:solidFill>
                <a:latin typeface="DejaVu Sans"/>
              </a:rPr>
              <a:t>Real Raspberry Pi 5 timing: 4 ms is a desktop number, and the Level 2 claim needs a measured board</a:t>
            </a:r>
          </a:p>
          <a:p>
            <a:pPr>
              <a:lnSpc>
                <a:spcPct val="100000"/>
              </a:lnSpc>
              <a:spcAft>
                <a:spcPts val="1000"/>
              </a:spcAft>
            </a:pPr>
            <a:r>
              <a:rPr sz="1500" b="0">
                <a:solidFill>
                  <a:srgbClr val="1A1A1A"/>
                </a:solidFill>
                <a:latin typeface="DejaVu Sans"/>
              </a:rPr>
              <a:t>A designed batch, not more history: 19 runs varying six settings independently, run sheet ready for Maus</a:t>
            </a:r>
          </a:p>
        </p:txBody>
      </p:sp>
      <p:sp>
        <p:nvSpPr>
          <p:cNvPr id="4" name="TextBox 3"/>
          <p:cNvSpPr txBox="1"/>
          <p:nvPr/>
        </p:nvSpPr>
        <p:spPr>
          <a:xfrm>
            <a:off x="548640" y="6327648"/>
            <a:ext cx="9601200" cy="365760"/>
          </a:xfrm>
          <a:prstGeom prst="rect">
            <a:avLst/>
          </a:prstGeom>
          <a:noFill/>
        </p:spPr>
        <p:txBody>
          <a:bodyPr wrap="square">
            <a:spAutoFit/>
          </a:bodyPr>
          <a:lstStyle/>
          <a:p>
            <a:r>
              <a:rPr sz="1000" b="0">
                <a:solidFill>
                  <a:srgbClr val="6B6B6B"/>
                </a:solidFill>
                <a:latin typeface="DejaVu Sans"/>
              </a:rPr>
              <a:t>Source: fold-risk.md, doe.md, audit report</a:t>
            </a:r>
          </a:p>
        </p:txBody>
      </p:sp>
      <p:sp>
        <p:nvSpPr>
          <p:cNvPr id="5" name="TextBox 4"/>
          <p:cNvSpPr txBox="1"/>
          <p:nvPr/>
        </p:nvSpPr>
        <p:spPr>
          <a:xfrm>
            <a:off x="11247120" y="6327648"/>
            <a:ext cx="548640" cy="365760"/>
          </a:xfrm>
          <a:prstGeom prst="rect">
            <a:avLst/>
          </a:prstGeom>
          <a:noFill/>
        </p:spPr>
        <p:txBody>
          <a:bodyPr wrap="square">
            <a:spAutoFit/>
          </a:bodyPr>
          <a:lstStyle/>
          <a:p>
            <a:pPr algn="r"/>
            <a:r>
              <a:rPr sz="1000" b="0">
                <a:solidFill>
                  <a:srgbClr val="6B6B6B"/>
                </a:solidFill>
                <a:latin typeface="DejaVu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64240" cy="822960"/>
          </a:xfrm>
          <a:prstGeom prst="rect">
            <a:avLst/>
          </a:prstGeom>
          <a:noFill/>
        </p:spPr>
        <p:txBody>
          <a:bodyPr wrap="square">
            <a:spAutoFit/>
          </a:bodyPr>
          <a:lstStyle/>
          <a:p>
            <a:pPr algn="l"/>
            <a:r>
              <a:rPr sz="3000" b="1">
                <a:solidFill>
                  <a:srgbClr val="1A1A1A"/>
                </a:solidFill>
                <a:latin typeface="DejaVu Sans"/>
              </a:rPr>
              <a:t>Check it yourself in a minute</a:t>
            </a:r>
          </a:p>
        </p:txBody>
      </p:sp>
      <p:sp>
        <p:nvSpPr>
          <p:cNvPr id="3" name="TextBox 2"/>
          <p:cNvSpPr txBox="1"/>
          <p:nvPr/>
        </p:nvSpPr>
        <p:spPr>
          <a:xfrm>
            <a:off x="640080" y="1234440"/>
            <a:ext cx="10972800" cy="4754880"/>
          </a:xfrm>
          <a:prstGeom prst="rect">
            <a:avLst/>
          </a:prstGeom>
          <a:noFill/>
        </p:spPr>
        <p:txBody>
          <a:bodyPr wrap="square">
            <a:spAutoFit/>
          </a:bodyPr>
          <a:lstStyle/>
          <a:p>
            <a:pPr>
              <a:lnSpc>
                <a:spcPct val="100000"/>
              </a:lnSpc>
              <a:spcAft>
                <a:spcPts val="1000"/>
              </a:spcAft>
            </a:pPr>
            <a:r>
              <a:rPr sz="1500" b="0">
                <a:solidFill>
                  <a:srgbClr val="1A1A1A"/>
                </a:solidFill>
                <a:latin typeface="DejaVu Sans"/>
              </a:rPr>
              <a:t>Repo: github.com/leonardoAB1/maus-crepe-insights (public; the Maus run data is private and stays out of Git)</a:t>
            </a:r>
          </a:p>
          <a:p>
            <a:pPr>
              <a:lnSpc>
                <a:spcPct val="100000"/>
              </a:lnSpc>
              <a:spcAft>
                <a:spcPts val="1000"/>
              </a:spcAft>
            </a:pPr>
            <a:r>
              <a:rPr sz="1500" b="0">
                <a:solidFill>
                  <a:srgbClr val="1A1A1A"/>
                </a:solidFill>
                <a:latin typeface="DejaVu Sans"/>
              </a:rPr>
              <a:t>Offline check, no data needed: cd code &amp;&amp; pixi install &amp;&amp; pixi run test &amp;&amp; pixi run lint</a:t>
            </a:r>
          </a:p>
          <a:p>
            <a:pPr>
              <a:lnSpc>
                <a:spcPct val="100000"/>
              </a:lnSpc>
              <a:spcAft>
                <a:spcPts val="1000"/>
              </a:spcAft>
            </a:pPr>
            <a:r>
              <a:rPr sz="1500" b="0">
                <a:solidFill>
                  <a:srgbClr val="1A1A1A"/>
                </a:solidFill>
                <a:latin typeface="DejaVu Sans"/>
              </a:rPr>
              <a:t>The suite runs in about four minutes: 625 passed, 66 skipped, exit 0</a:t>
            </a:r>
          </a:p>
          <a:p>
            <a:pPr>
              <a:lnSpc>
                <a:spcPct val="100000"/>
              </a:lnSpc>
              <a:spcAft>
                <a:spcPts val="1000"/>
              </a:spcAft>
            </a:pPr>
            <a:r>
              <a:rPr sz="1500" b="0">
                <a:solidFill>
                  <a:srgbClr val="1A1A1A"/>
                </a:solidFill>
                <a:latin typeface="DejaVu Sans"/>
              </a:rPr>
              <a:t>Model cards with holdouts, per-robot and leave-one-robot-out checks, and explicit generalization verdicts: code/models/</a:t>
            </a:r>
          </a:p>
          <a:p>
            <a:pPr>
              <a:lnSpc>
                <a:spcPct val="100000"/>
              </a:lnSpc>
              <a:spcAft>
                <a:spcPts val="1000"/>
              </a:spcAft>
            </a:pPr>
            <a:r>
              <a:rPr sz="1500" b="0">
                <a:solidFill>
                  <a:srgbClr val="1A1A1A"/>
                </a:solidFill>
                <a:latin typeface="DejaVu Sans"/>
              </a:rPr>
              <a:t>Status page, every number with its source: documentation/status.md</a:t>
            </a:r>
          </a:p>
          <a:p>
            <a:pPr>
              <a:lnSpc>
                <a:spcPct val="100000"/>
              </a:lnSpc>
              <a:spcAft>
                <a:spcPts val="1000"/>
              </a:spcAft>
            </a:pPr>
            <a:r>
              <a:rPr sz="1500" b="0">
                <a:solidFill>
                  <a:srgbClr val="1A1A1A"/>
                </a:solidFill>
                <a:latin typeface="DejaVu Sans"/>
              </a:rPr>
              <a:t>Licence: PolyForm Noncommercial 1.0.0</a:t>
            </a:r>
          </a:p>
        </p:txBody>
      </p:sp>
      <p:sp>
        <p:nvSpPr>
          <p:cNvPr id="4" name="TextBox 3"/>
          <p:cNvSpPr txBox="1"/>
          <p:nvPr/>
        </p:nvSpPr>
        <p:spPr>
          <a:xfrm>
            <a:off x="548640" y="6327648"/>
            <a:ext cx="9601200" cy="365760"/>
          </a:xfrm>
          <a:prstGeom prst="rect">
            <a:avLst/>
          </a:prstGeom>
          <a:noFill/>
        </p:spPr>
        <p:txBody>
          <a:bodyPr wrap="square">
            <a:spAutoFit/>
          </a:bodyPr>
          <a:lstStyle/>
          <a:p>
            <a:r>
              <a:rPr sz="1000" b="0">
                <a:solidFill>
                  <a:srgbClr val="6B6B6B"/>
                </a:solidFill>
                <a:latin typeface="DejaVu Sans"/>
              </a:rPr>
              <a:t>Sourced in the repository</a:t>
            </a:r>
          </a:p>
        </p:txBody>
      </p:sp>
      <p:sp>
        <p:nvSpPr>
          <p:cNvPr id="5" name="TextBox 4"/>
          <p:cNvSpPr txBox="1"/>
          <p:nvPr/>
        </p:nvSpPr>
        <p:spPr>
          <a:xfrm>
            <a:off x="11247120" y="6327648"/>
            <a:ext cx="548640" cy="365760"/>
          </a:xfrm>
          <a:prstGeom prst="rect">
            <a:avLst/>
          </a:prstGeom>
          <a:noFill/>
        </p:spPr>
        <p:txBody>
          <a:bodyPr wrap="square">
            <a:spAutoFit/>
          </a:bodyPr>
          <a:lstStyle/>
          <a:p>
            <a:pPr algn="r"/>
            <a:r>
              <a:rPr sz="1000" b="0">
                <a:solidFill>
                  <a:srgbClr val="6B6B6B"/>
                </a:solidFill>
                <a:latin typeface="DejaVu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64240" cy="822960"/>
          </a:xfrm>
          <a:prstGeom prst="rect">
            <a:avLst/>
          </a:prstGeom>
          <a:noFill/>
        </p:spPr>
        <p:txBody>
          <a:bodyPr wrap="square">
            <a:spAutoFit/>
          </a:bodyPr>
          <a:lstStyle/>
          <a:p>
            <a:pPr algn="l"/>
            <a:r>
              <a:rPr sz="3000" b="1">
                <a:solidFill>
                  <a:srgbClr val="1A1A1A"/>
                </a:solidFill>
                <a:latin typeface="DejaVu Sans"/>
              </a:rPr>
              <a:t>Where to look</a:t>
            </a:r>
          </a:p>
        </p:txBody>
      </p:sp>
      <p:sp>
        <p:nvSpPr>
          <p:cNvPr id="3" name="TextBox 2"/>
          <p:cNvSpPr txBox="1"/>
          <p:nvPr/>
        </p:nvSpPr>
        <p:spPr>
          <a:xfrm>
            <a:off x="640080" y="1234440"/>
            <a:ext cx="10972800" cy="4754880"/>
          </a:xfrm>
          <a:prstGeom prst="rect">
            <a:avLst/>
          </a:prstGeom>
          <a:noFill/>
        </p:spPr>
        <p:txBody>
          <a:bodyPr wrap="square">
            <a:spAutoFit/>
          </a:bodyPr>
          <a:lstStyle/>
          <a:p>
            <a:pPr>
              <a:lnSpc>
                <a:spcPct val="100000"/>
              </a:lnSpc>
              <a:spcAft>
                <a:spcPts val="1000"/>
              </a:spcAft>
            </a:pPr>
            <a:r>
              <a:rPr sz="1500" b="0">
                <a:solidFill>
                  <a:srgbClr val="1A1A1A"/>
                </a:solidFill>
                <a:latin typeface="DejaVu Sans"/>
              </a:rPr>
              <a:t>documentation/status.md: what works and what does not, every number with its source</a:t>
            </a:r>
          </a:p>
          <a:p>
            <a:pPr>
              <a:lnSpc>
                <a:spcPct val="100000"/>
              </a:lnSpc>
              <a:spcAft>
                <a:spcPts val="1000"/>
              </a:spcAft>
            </a:pPr>
            <a:r>
              <a:rPr sz="1500" b="0">
                <a:solidFill>
                  <a:srgbClr val="1A1A1A"/>
                </a:solidFill>
                <a:latin typeface="DejaVu Sans"/>
              </a:rPr>
              <a:t>code/models/: model cards with holdout metrics and explicit generalization verdicts</a:t>
            </a:r>
          </a:p>
          <a:p>
            <a:pPr>
              <a:lnSpc>
                <a:spcPct val="100000"/>
              </a:lnSpc>
              <a:spcAft>
                <a:spcPts val="1000"/>
              </a:spcAft>
            </a:pPr>
            <a:r>
              <a:rPr sz="1500" b="0">
                <a:solidFill>
                  <a:srgbClr val="1A1A1A"/>
                </a:solidFill>
                <a:latin typeface="DejaVu Sans"/>
              </a:rPr>
              <a:t>documentation/system/crepe-stages.md: the robot's stages, and where runs fail</a:t>
            </a:r>
          </a:p>
          <a:p>
            <a:pPr>
              <a:lnSpc>
                <a:spcPct val="100000"/>
              </a:lnSpc>
              <a:spcAft>
                <a:spcPts val="1000"/>
              </a:spcAft>
            </a:pPr>
            <a:r>
              <a:rPr sz="1500" b="0">
                <a:solidFill>
                  <a:srgbClr val="1A1A1A"/>
                </a:solidFill>
                <a:latin typeface="DejaVu Sans"/>
              </a:rPr>
              <a:t>documentation/data/pipeline.md: dashboard to MCAP to tables, and the vision score columns</a:t>
            </a:r>
          </a:p>
          <a:p>
            <a:pPr>
              <a:lnSpc>
                <a:spcPct val="100000"/>
              </a:lnSpc>
              <a:spcAft>
                <a:spcPts val="1000"/>
              </a:spcAft>
            </a:pPr>
            <a:r>
              <a:rPr sz="1500" b="0">
                <a:solidFill>
                  <a:srgbClr val="1A1A1A"/>
                </a:solidFill>
                <a:latin typeface="DejaVu Sans"/>
              </a:rPr>
              <a:t>Take away: an honest, documented pipeline with real measurements; the models are experiments, and the next runs are the fix</a:t>
            </a:r>
          </a:p>
        </p:txBody>
      </p:sp>
      <p:sp>
        <p:nvSpPr>
          <p:cNvPr id="4" name="TextBox 3"/>
          <p:cNvSpPr txBox="1"/>
          <p:nvPr/>
        </p:nvSpPr>
        <p:spPr>
          <a:xfrm>
            <a:off x="548640" y="6327648"/>
            <a:ext cx="9601200" cy="365760"/>
          </a:xfrm>
          <a:prstGeom prst="rect">
            <a:avLst/>
          </a:prstGeom>
          <a:noFill/>
        </p:spPr>
        <p:txBody>
          <a:bodyPr wrap="square">
            <a:spAutoFit/>
          </a:bodyPr>
          <a:lstStyle/>
          <a:p>
            <a:r>
              <a:rPr sz="1000" b="0">
                <a:solidFill>
                  <a:srgbClr val="6B6B6B"/>
                </a:solidFill>
                <a:latin typeface="DejaVu Sans"/>
              </a:rPr>
              <a:t>CrepeFlow, BaselHack 2026</a:t>
            </a:r>
          </a:p>
        </p:txBody>
      </p:sp>
      <p:sp>
        <p:nvSpPr>
          <p:cNvPr id="5" name="TextBox 4"/>
          <p:cNvSpPr txBox="1"/>
          <p:nvPr/>
        </p:nvSpPr>
        <p:spPr>
          <a:xfrm>
            <a:off x="11247120" y="6327648"/>
            <a:ext cx="548640" cy="365760"/>
          </a:xfrm>
          <a:prstGeom prst="rect">
            <a:avLst/>
          </a:prstGeom>
          <a:noFill/>
        </p:spPr>
        <p:txBody>
          <a:bodyPr wrap="square">
            <a:spAutoFit/>
          </a:bodyPr>
          <a:lstStyle/>
          <a:p>
            <a:pPr algn="r"/>
            <a:r>
              <a:rPr sz="1000" b="0">
                <a:solidFill>
                  <a:srgbClr val="6B6B6B"/>
                </a:solidFill>
                <a:latin typeface="DejaVu Sans"/>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